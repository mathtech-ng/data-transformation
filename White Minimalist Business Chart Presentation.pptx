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4.svg" ContentType="image/svg+xml"/>
  <Override PartName="/ppt/media/image2.svg" ContentType="image/svg+xml"/>
  <Override PartName="/ppt/media/image4.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8288000" cy="10287000"/>
  <p:notesSz cx="6858000" cy="9144000"/>
  <p:embeddedFontLst>
    <p:embeddedFont>
      <p:font typeface="Noto Serif Display Semi-Bold Italics" panose="02020702080505090204"/>
      <p:boldItalic r:id="rId22"/>
    </p:embeddedFont>
    <p:embeddedFont>
      <p:font typeface="Public Sans Bold"/>
      <p:bold r:id="rId23"/>
    </p:embeddedFont>
    <p:embeddedFont>
      <p:font typeface="Public Sans"/>
      <p:regular r:id="rId24"/>
    </p:embeddedFont>
    <p:embeddedFont>
      <p:font typeface="Raleway Medium"/>
      <p:regular r:id="rId25"/>
    </p:embeddedFont>
    <p:embeddedFont>
      <p:font typeface="Montserrat" panose="00000500000000000000"/>
      <p:regular r:id="rId26"/>
    </p:embeddedFont>
    <p:embeddedFont>
      <p:font typeface="Canva Sans Bold" panose="020B0803030501040103"/>
      <p:bold r:id="rId27"/>
    </p:embeddedFont>
    <p:embeddedFont>
      <p:font typeface="Lexend Deca"/>
      <p:regular r:id="rId28"/>
    </p:embeddedFont>
    <p:embeddedFont>
      <p:font typeface="Gotham Bold"/>
      <p:bold r:id="rId29"/>
    </p:embeddedFont>
    <p:embeddedFont>
      <p:font typeface="Canva Sans" panose="020B0503030501040103"/>
      <p:regular r:id="rId30"/>
    </p:embeddedFont>
    <p:embeddedFont>
      <p:font typeface="Calibri" panose="020F050202020403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028700" y="1751768"/>
            <a:ext cx="16230600" cy="0"/>
          </a:xfrm>
          <a:prstGeom prst="line">
            <a:avLst/>
          </a:prstGeom>
          <a:ln w="28575" cap="flat">
            <a:solidFill>
              <a:srgbClr val="333333"/>
            </a:solidFill>
            <a:prstDash val="solid"/>
            <a:headEnd type="none" w="sm" len="sm"/>
            <a:tailEnd type="none" w="sm" len="sm"/>
          </a:ln>
        </p:spPr>
      </p:sp>
      <p:sp>
        <p:nvSpPr>
          <p:cNvPr id="3" name="TextBox 3"/>
          <p:cNvSpPr txBox="1"/>
          <p:nvPr/>
        </p:nvSpPr>
        <p:spPr>
          <a:xfrm>
            <a:off x="1081435" y="2809489"/>
            <a:ext cx="11141047" cy="3608893"/>
          </a:xfrm>
          <a:prstGeom prst="rect">
            <a:avLst/>
          </a:prstGeom>
        </p:spPr>
        <p:txBody>
          <a:bodyPr lIns="0" tIns="0" rIns="0" bIns="0" rtlCol="0" anchor="t">
            <a:spAutoFit/>
          </a:bodyPr>
          <a:lstStyle/>
          <a:p>
            <a:pPr algn="l">
              <a:lnSpc>
                <a:spcPts val="7075"/>
              </a:lnSpc>
            </a:pPr>
            <a:r>
              <a:rPr lang="en-US" sz="6430" b="1" i="1" spc="-315">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REGRESSION AND TIME SERIES MODELLING OF STUDENTS’ PERFORMANCE ACROSS SEMSTER</a:t>
            </a:r>
            <a:endParaRPr lang="en-US" sz="6430" b="1" i="1" spc="-315">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4" name="TextBox 4"/>
          <p:cNvSpPr txBox="1"/>
          <p:nvPr/>
        </p:nvSpPr>
        <p:spPr>
          <a:xfrm>
            <a:off x="1028700" y="971550"/>
            <a:ext cx="5036818" cy="431800"/>
          </a:xfrm>
          <a:prstGeom prst="rect">
            <a:avLst/>
          </a:prstGeom>
        </p:spPr>
        <p:txBody>
          <a:bodyPr lIns="0" tIns="0" rIns="0" bIns="0" rtlCol="0" anchor="t">
            <a:spAutoFit/>
          </a:bodyPr>
          <a:lstStyle/>
          <a:p>
            <a:pPr algn="l">
              <a:lnSpc>
                <a:spcPts val="3500"/>
              </a:lnSpc>
            </a:pPr>
            <a:r>
              <a:rPr lang="en-US" sz="2500" b="1">
                <a:solidFill>
                  <a:srgbClr val="333333"/>
                </a:solidFill>
                <a:latin typeface="Public Sans Bold"/>
                <a:ea typeface="Public Sans Bold"/>
                <a:cs typeface="Public Sans Bold"/>
                <a:sym typeface="Public Sans Bold"/>
              </a:rPr>
              <a:t>EHIME KELVIN EHINOMEN</a:t>
            </a:r>
            <a:endParaRPr lang="en-US" sz="2500" b="1">
              <a:solidFill>
                <a:srgbClr val="333333"/>
              </a:solidFill>
              <a:latin typeface="Public Sans Bold"/>
              <a:ea typeface="Public Sans Bold"/>
              <a:cs typeface="Public Sans Bold"/>
              <a:sym typeface="Public Sans Bold"/>
            </a:endParaRPr>
          </a:p>
        </p:txBody>
      </p:sp>
      <p:sp>
        <p:nvSpPr>
          <p:cNvPr id="5" name="TextBox 5"/>
          <p:cNvSpPr txBox="1"/>
          <p:nvPr/>
        </p:nvSpPr>
        <p:spPr>
          <a:xfrm>
            <a:off x="12222482" y="971550"/>
            <a:ext cx="5036818" cy="431800"/>
          </a:xfrm>
          <a:prstGeom prst="rect">
            <a:avLst/>
          </a:prstGeom>
        </p:spPr>
        <p:txBody>
          <a:bodyPr lIns="0" tIns="0" rIns="0" bIns="0" rtlCol="0" anchor="t">
            <a:spAutoFit/>
          </a:bodyPr>
          <a:lstStyle/>
          <a:p>
            <a:pPr algn="r">
              <a:lnSpc>
                <a:spcPts val="3500"/>
              </a:lnSpc>
            </a:pPr>
            <a:r>
              <a:rPr lang="en-US" sz="2500" b="1">
                <a:solidFill>
                  <a:srgbClr val="333333"/>
                </a:solidFill>
                <a:latin typeface="Public Sans Bold"/>
                <a:ea typeface="Public Sans Bold"/>
                <a:cs typeface="Public Sans Bold"/>
                <a:sym typeface="Public Sans Bold"/>
              </a:rPr>
              <a:t>22010303003</a:t>
            </a:r>
            <a:endParaRPr lang="en-US" sz="2500" b="1">
              <a:solidFill>
                <a:srgbClr val="333333"/>
              </a:solidFill>
              <a:latin typeface="Public Sans Bold"/>
              <a:ea typeface="Public Sans Bold"/>
              <a:cs typeface="Public Sans Bold"/>
              <a:sym typeface="Public Sans Bold"/>
            </a:endParaRPr>
          </a:p>
        </p:txBody>
      </p:sp>
      <p:sp>
        <p:nvSpPr>
          <p:cNvPr id="6" name="TextBox 6"/>
          <p:cNvSpPr txBox="1"/>
          <p:nvPr/>
        </p:nvSpPr>
        <p:spPr>
          <a:xfrm>
            <a:off x="12222482" y="8247181"/>
            <a:ext cx="5036818" cy="431800"/>
          </a:xfrm>
          <a:prstGeom prst="rect">
            <a:avLst/>
          </a:prstGeom>
        </p:spPr>
        <p:txBody>
          <a:bodyPr lIns="0" tIns="0" rIns="0" bIns="0" rtlCol="0" anchor="t">
            <a:spAutoFit/>
          </a:bodyPr>
          <a:lstStyle/>
          <a:p>
            <a:pPr algn="r">
              <a:lnSpc>
                <a:spcPts val="3500"/>
              </a:lnSpc>
            </a:pPr>
            <a:r>
              <a:rPr lang="en-US" sz="2500">
                <a:solidFill>
                  <a:srgbClr val="333333"/>
                </a:solidFill>
                <a:latin typeface="Public Sans"/>
                <a:ea typeface="Public Sans"/>
                <a:cs typeface="Public Sans"/>
                <a:sym typeface="Public Sans"/>
              </a:rPr>
              <a:t>Project Supervisor</a:t>
            </a:r>
            <a:endParaRPr lang="en-US" sz="2500">
              <a:solidFill>
                <a:srgbClr val="333333"/>
              </a:solidFill>
              <a:latin typeface="Public Sans"/>
              <a:ea typeface="Public Sans"/>
              <a:cs typeface="Public Sans"/>
              <a:sym typeface="Public Sans"/>
            </a:endParaRPr>
          </a:p>
        </p:txBody>
      </p:sp>
      <p:sp>
        <p:nvSpPr>
          <p:cNvPr id="7" name="TextBox 7"/>
          <p:cNvSpPr txBox="1"/>
          <p:nvPr/>
        </p:nvSpPr>
        <p:spPr>
          <a:xfrm>
            <a:off x="12222482" y="8743950"/>
            <a:ext cx="5036818" cy="514350"/>
          </a:xfrm>
          <a:prstGeom prst="rect">
            <a:avLst/>
          </a:prstGeom>
        </p:spPr>
        <p:txBody>
          <a:bodyPr lIns="0" tIns="0" rIns="0" bIns="0" rtlCol="0" anchor="t">
            <a:spAutoFit/>
          </a:bodyPr>
          <a:lstStyle/>
          <a:p>
            <a:pPr algn="r">
              <a:lnSpc>
                <a:spcPts val="4200"/>
              </a:lnSpc>
            </a:pPr>
            <a:r>
              <a:rPr lang="en-US" sz="3000" b="1">
                <a:solidFill>
                  <a:srgbClr val="333333"/>
                </a:solidFill>
                <a:latin typeface="Public Sans Bold"/>
                <a:ea typeface="Public Sans Bold"/>
                <a:cs typeface="Public Sans Bold"/>
                <a:sym typeface="Public Sans Bold"/>
              </a:rPr>
              <a:t>Mr Ekundayo</a:t>
            </a:r>
            <a:endParaRPr lang="en-US" sz="3000" b="1">
              <a:solidFill>
                <a:srgbClr val="333333"/>
              </a:solidFill>
              <a:latin typeface="Public Sans Bold"/>
              <a:ea typeface="Public Sans Bold"/>
              <a:cs typeface="Public Sans Bold"/>
              <a:sym typeface="Public Sans Bold"/>
            </a:endParaRPr>
          </a:p>
        </p:txBody>
      </p:sp>
      <p:sp>
        <p:nvSpPr>
          <p:cNvPr id="8" name="TextBox 8"/>
          <p:cNvSpPr txBox="1"/>
          <p:nvPr/>
        </p:nvSpPr>
        <p:spPr>
          <a:xfrm>
            <a:off x="1028700" y="8826500"/>
            <a:ext cx="5036818" cy="431800"/>
          </a:xfrm>
          <a:prstGeom prst="rect">
            <a:avLst/>
          </a:prstGeom>
        </p:spPr>
        <p:txBody>
          <a:bodyPr lIns="0" tIns="0" rIns="0" bIns="0" rtlCol="0" anchor="t">
            <a:spAutoFit/>
          </a:bodyPr>
          <a:lstStyle/>
          <a:p>
            <a:pPr algn="l">
              <a:lnSpc>
                <a:spcPts val="3500"/>
              </a:lnSpc>
            </a:pPr>
            <a:r>
              <a:rPr lang="en-US" sz="2500" b="1">
                <a:solidFill>
                  <a:srgbClr val="333333"/>
                </a:solidFill>
                <a:latin typeface="Public Sans Bold"/>
                <a:ea typeface="Public Sans Bold"/>
                <a:cs typeface="Public Sans Bold"/>
                <a:sym typeface="Public Sans Bold"/>
              </a:rPr>
              <a:t>22nd January 2026</a:t>
            </a:r>
            <a:endParaRPr lang="en-US" sz="2500" b="1">
              <a:solidFill>
                <a:srgbClr val="333333"/>
              </a:solidFill>
              <a:latin typeface="Public Sans Bold"/>
              <a:ea typeface="Public Sans Bold"/>
              <a:cs typeface="Public Sans Bold"/>
              <a:sym typeface="Public Sans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028700" y="1751768"/>
            <a:ext cx="16230600" cy="0"/>
          </a:xfrm>
          <a:prstGeom prst="line">
            <a:avLst/>
          </a:prstGeom>
          <a:ln w="28575" cap="flat">
            <a:solidFill>
              <a:srgbClr val="333333"/>
            </a:solidFill>
            <a:prstDash val="solid"/>
            <a:headEnd type="none" w="sm" len="sm"/>
            <a:tailEnd type="none" w="sm" len="sm"/>
          </a:ln>
        </p:spPr>
      </p:sp>
      <p:sp>
        <p:nvSpPr>
          <p:cNvPr id="3" name="AutoShape 3"/>
          <p:cNvSpPr/>
          <p:nvPr/>
        </p:nvSpPr>
        <p:spPr>
          <a:xfrm>
            <a:off x="5670483" y="5982219"/>
            <a:ext cx="5020210" cy="0"/>
          </a:xfrm>
          <a:prstGeom prst="line">
            <a:avLst/>
          </a:prstGeom>
          <a:ln w="28575" cap="flat">
            <a:solidFill>
              <a:srgbClr val="333333"/>
            </a:solidFill>
            <a:prstDash val="solid"/>
            <a:headEnd type="none" w="sm" len="sm"/>
            <a:tailEnd type="none" w="sm" len="sm"/>
          </a:ln>
        </p:spPr>
      </p:sp>
      <p:sp>
        <p:nvSpPr>
          <p:cNvPr id="4" name="AutoShape 4"/>
          <p:cNvSpPr/>
          <p:nvPr/>
        </p:nvSpPr>
        <p:spPr>
          <a:xfrm>
            <a:off x="5670483" y="6657892"/>
            <a:ext cx="5020210" cy="0"/>
          </a:xfrm>
          <a:prstGeom prst="line">
            <a:avLst/>
          </a:prstGeom>
          <a:ln w="28575" cap="flat">
            <a:solidFill>
              <a:srgbClr val="333333"/>
            </a:solidFill>
            <a:prstDash val="solid"/>
            <a:headEnd type="none" w="sm" len="sm"/>
            <a:tailEnd type="none" w="sm" len="sm"/>
          </a:ln>
        </p:spPr>
      </p:sp>
      <p:sp>
        <p:nvSpPr>
          <p:cNvPr id="5" name="AutoShape 5"/>
          <p:cNvSpPr/>
          <p:nvPr/>
        </p:nvSpPr>
        <p:spPr>
          <a:xfrm>
            <a:off x="5670483" y="7334250"/>
            <a:ext cx="5020210" cy="0"/>
          </a:xfrm>
          <a:prstGeom prst="line">
            <a:avLst/>
          </a:prstGeom>
          <a:ln w="28575" cap="flat">
            <a:solidFill>
              <a:srgbClr val="333333"/>
            </a:solidFill>
            <a:prstDash val="solid"/>
            <a:headEnd type="none" w="sm" len="sm"/>
            <a:tailEnd type="none" w="sm" len="sm"/>
          </a:ln>
        </p:spPr>
      </p:sp>
      <p:sp>
        <p:nvSpPr>
          <p:cNvPr id="6" name="AutoShape 6"/>
          <p:cNvSpPr/>
          <p:nvPr/>
        </p:nvSpPr>
        <p:spPr>
          <a:xfrm>
            <a:off x="5670483" y="8010525"/>
            <a:ext cx="5020210" cy="0"/>
          </a:xfrm>
          <a:prstGeom prst="line">
            <a:avLst/>
          </a:prstGeom>
          <a:ln w="28575" cap="flat">
            <a:solidFill>
              <a:srgbClr val="333333"/>
            </a:solidFill>
            <a:prstDash val="solid"/>
            <a:headEnd type="none" w="sm" len="sm"/>
            <a:tailEnd type="none" w="sm" len="sm"/>
          </a:ln>
        </p:spPr>
      </p:sp>
      <p:sp>
        <p:nvSpPr>
          <p:cNvPr id="7" name="AutoShape 7"/>
          <p:cNvSpPr/>
          <p:nvPr/>
        </p:nvSpPr>
        <p:spPr>
          <a:xfrm>
            <a:off x="5670483" y="8686800"/>
            <a:ext cx="5020210" cy="0"/>
          </a:xfrm>
          <a:prstGeom prst="line">
            <a:avLst/>
          </a:prstGeom>
          <a:ln w="28575" cap="flat">
            <a:solidFill>
              <a:srgbClr val="333333"/>
            </a:solidFill>
            <a:prstDash val="solid"/>
            <a:headEnd type="none" w="sm" len="sm"/>
            <a:tailEnd type="none" w="sm" len="sm"/>
          </a:ln>
        </p:spPr>
      </p:sp>
      <p:sp>
        <p:nvSpPr>
          <p:cNvPr id="8" name="AutoShape 8"/>
          <p:cNvSpPr/>
          <p:nvPr/>
        </p:nvSpPr>
        <p:spPr>
          <a:xfrm>
            <a:off x="12239090" y="5982219"/>
            <a:ext cx="5020210" cy="0"/>
          </a:xfrm>
          <a:prstGeom prst="line">
            <a:avLst/>
          </a:prstGeom>
          <a:ln w="28575" cap="flat">
            <a:solidFill>
              <a:srgbClr val="333333"/>
            </a:solidFill>
            <a:prstDash val="solid"/>
            <a:headEnd type="none" w="sm" len="sm"/>
            <a:tailEnd type="none" w="sm" len="sm"/>
          </a:ln>
        </p:spPr>
      </p:sp>
      <p:sp>
        <p:nvSpPr>
          <p:cNvPr id="9" name="AutoShape 9"/>
          <p:cNvSpPr/>
          <p:nvPr/>
        </p:nvSpPr>
        <p:spPr>
          <a:xfrm>
            <a:off x="12239090" y="6657892"/>
            <a:ext cx="5020210" cy="0"/>
          </a:xfrm>
          <a:prstGeom prst="line">
            <a:avLst/>
          </a:prstGeom>
          <a:ln w="28575" cap="flat">
            <a:solidFill>
              <a:srgbClr val="333333"/>
            </a:solidFill>
            <a:prstDash val="solid"/>
            <a:headEnd type="none" w="sm" len="sm"/>
            <a:tailEnd type="none" w="sm" len="sm"/>
          </a:ln>
        </p:spPr>
      </p:sp>
      <p:sp>
        <p:nvSpPr>
          <p:cNvPr id="10" name="AutoShape 10"/>
          <p:cNvSpPr/>
          <p:nvPr/>
        </p:nvSpPr>
        <p:spPr>
          <a:xfrm>
            <a:off x="12239090" y="7334250"/>
            <a:ext cx="5020210" cy="0"/>
          </a:xfrm>
          <a:prstGeom prst="line">
            <a:avLst/>
          </a:prstGeom>
          <a:ln w="28575" cap="flat">
            <a:solidFill>
              <a:srgbClr val="333333"/>
            </a:solidFill>
            <a:prstDash val="solid"/>
            <a:headEnd type="none" w="sm" len="sm"/>
            <a:tailEnd type="none" w="sm" len="sm"/>
          </a:ln>
        </p:spPr>
      </p:sp>
      <p:sp>
        <p:nvSpPr>
          <p:cNvPr id="11" name="AutoShape 11"/>
          <p:cNvSpPr/>
          <p:nvPr/>
        </p:nvSpPr>
        <p:spPr>
          <a:xfrm>
            <a:off x="12239090" y="8010525"/>
            <a:ext cx="5020210" cy="0"/>
          </a:xfrm>
          <a:prstGeom prst="line">
            <a:avLst/>
          </a:prstGeom>
          <a:ln w="28575" cap="flat">
            <a:solidFill>
              <a:srgbClr val="333333"/>
            </a:solidFill>
            <a:prstDash val="solid"/>
            <a:headEnd type="none" w="sm" len="sm"/>
            <a:tailEnd type="none" w="sm" len="sm"/>
          </a:ln>
        </p:spPr>
      </p:sp>
      <p:sp>
        <p:nvSpPr>
          <p:cNvPr id="12" name="AutoShape 12"/>
          <p:cNvSpPr/>
          <p:nvPr/>
        </p:nvSpPr>
        <p:spPr>
          <a:xfrm>
            <a:off x="12239090" y="8686800"/>
            <a:ext cx="5020210" cy="0"/>
          </a:xfrm>
          <a:prstGeom prst="line">
            <a:avLst/>
          </a:prstGeom>
          <a:ln w="28575" cap="flat">
            <a:solidFill>
              <a:srgbClr val="333333"/>
            </a:solidFill>
            <a:prstDash val="solid"/>
            <a:headEnd type="none" w="sm" len="sm"/>
            <a:tailEnd type="none" w="sm" len="sm"/>
          </a:ln>
        </p:spPr>
      </p:sp>
      <p:sp>
        <p:nvSpPr>
          <p:cNvPr id="13" name="Freeform 13"/>
          <p:cNvSpPr/>
          <p:nvPr/>
        </p:nvSpPr>
        <p:spPr>
          <a:xfrm>
            <a:off x="-4191083" y="6095917"/>
            <a:ext cx="8382166" cy="8382166"/>
          </a:xfrm>
          <a:custGeom>
            <a:avLst/>
            <a:gdLst/>
            <a:ahLst/>
            <a:cxnLst/>
            <a:rect l="l" t="t" r="r" b="b"/>
            <a:pathLst>
              <a:path w="8382166" h="8382166">
                <a:moveTo>
                  <a:pt x="0" y="0"/>
                </a:moveTo>
                <a:lnTo>
                  <a:pt x="8382166" y="0"/>
                </a:lnTo>
                <a:lnTo>
                  <a:pt x="8382166" y="8382166"/>
                </a:lnTo>
                <a:lnTo>
                  <a:pt x="0" y="838216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4" name="TextBox 14"/>
          <p:cNvSpPr txBox="1"/>
          <p:nvPr/>
        </p:nvSpPr>
        <p:spPr>
          <a:xfrm>
            <a:off x="1028700" y="2458154"/>
            <a:ext cx="13919249" cy="2057400"/>
          </a:xfrm>
          <a:prstGeom prst="rect">
            <a:avLst/>
          </a:prstGeom>
        </p:spPr>
        <p:txBody>
          <a:bodyPr lIns="0" tIns="0" rIns="0" bIns="0" rtlCol="0" anchor="t">
            <a:spAutoFit/>
          </a:bodyPr>
          <a:lstStyle/>
          <a:p>
            <a:pPr algn="l">
              <a:lnSpc>
                <a:spcPts val="16200"/>
              </a:lnSpc>
            </a:pPr>
            <a:r>
              <a:rPr lang="en-US" sz="13500" b="1" i="1" spc="-661">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Content</a:t>
            </a:r>
            <a:endParaRPr lang="en-US" sz="13500" b="1" i="1" spc="-661">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15" name="TextBox 15"/>
          <p:cNvSpPr txBox="1"/>
          <p:nvPr/>
        </p:nvSpPr>
        <p:spPr>
          <a:xfrm>
            <a:off x="1028700" y="971550"/>
            <a:ext cx="5036818" cy="431800"/>
          </a:xfrm>
          <a:prstGeom prst="rect">
            <a:avLst/>
          </a:prstGeom>
        </p:spPr>
        <p:txBody>
          <a:bodyPr lIns="0" tIns="0" rIns="0" bIns="0" rtlCol="0" anchor="t">
            <a:spAutoFit/>
          </a:bodyPr>
          <a:lstStyle/>
          <a:p>
            <a:pPr algn="l">
              <a:lnSpc>
                <a:spcPts val="3500"/>
              </a:lnSpc>
            </a:pPr>
            <a:r>
              <a:rPr lang="en-US" sz="2500" b="1">
                <a:solidFill>
                  <a:srgbClr val="333333"/>
                </a:solidFill>
                <a:latin typeface="Public Sans Bold"/>
                <a:ea typeface="Public Sans Bold"/>
                <a:cs typeface="Public Sans Bold"/>
                <a:sym typeface="Public Sans Bold"/>
              </a:rPr>
              <a:t>EHIME KELVIN EHINOMEN</a:t>
            </a:r>
            <a:endParaRPr lang="en-US" sz="2500" b="1">
              <a:solidFill>
                <a:srgbClr val="333333"/>
              </a:solidFill>
              <a:latin typeface="Public Sans Bold"/>
              <a:ea typeface="Public Sans Bold"/>
              <a:cs typeface="Public Sans Bold"/>
              <a:sym typeface="Public Sans Bold"/>
            </a:endParaRPr>
          </a:p>
        </p:txBody>
      </p:sp>
      <p:sp>
        <p:nvSpPr>
          <p:cNvPr id="16" name="TextBox 16"/>
          <p:cNvSpPr txBox="1"/>
          <p:nvPr/>
        </p:nvSpPr>
        <p:spPr>
          <a:xfrm>
            <a:off x="12222482" y="971550"/>
            <a:ext cx="5036818" cy="431800"/>
          </a:xfrm>
          <a:prstGeom prst="rect">
            <a:avLst/>
          </a:prstGeom>
        </p:spPr>
        <p:txBody>
          <a:bodyPr lIns="0" tIns="0" rIns="0" bIns="0" rtlCol="0" anchor="t">
            <a:spAutoFit/>
          </a:bodyPr>
          <a:lstStyle/>
          <a:p>
            <a:pPr algn="r">
              <a:lnSpc>
                <a:spcPts val="3500"/>
              </a:lnSpc>
            </a:pPr>
            <a:r>
              <a:rPr lang="en-US" sz="2500" b="1">
                <a:solidFill>
                  <a:srgbClr val="333333"/>
                </a:solidFill>
                <a:latin typeface="Public Sans Bold"/>
                <a:ea typeface="Public Sans Bold"/>
                <a:cs typeface="Public Sans Bold"/>
                <a:sym typeface="Public Sans Bold"/>
              </a:rPr>
              <a:t>220000</a:t>
            </a:r>
            <a:endParaRPr lang="en-US" sz="2500" b="1">
              <a:solidFill>
                <a:srgbClr val="333333"/>
              </a:solidFill>
              <a:latin typeface="Public Sans Bold"/>
              <a:ea typeface="Public Sans Bold"/>
              <a:cs typeface="Public Sans Bold"/>
              <a:sym typeface="Public Sans Bold"/>
            </a:endParaRPr>
          </a:p>
        </p:txBody>
      </p:sp>
      <p:sp>
        <p:nvSpPr>
          <p:cNvPr id="17" name="TextBox 17"/>
          <p:cNvSpPr txBox="1"/>
          <p:nvPr/>
        </p:nvSpPr>
        <p:spPr>
          <a:xfrm>
            <a:off x="5653875" y="6019717"/>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Problem Statement</a:t>
            </a:r>
            <a:endParaRPr lang="en-US" sz="3000">
              <a:solidFill>
                <a:srgbClr val="333333"/>
              </a:solidFill>
              <a:latin typeface="Public Sans"/>
              <a:ea typeface="Public Sans"/>
              <a:cs typeface="Public Sans"/>
              <a:sym typeface="Public Sans"/>
            </a:endParaRPr>
          </a:p>
        </p:txBody>
      </p:sp>
      <p:sp>
        <p:nvSpPr>
          <p:cNvPr id="18" name="TextBox 18"/>
          <p:cNvSpPr txBox="1"/>
          <p:nvPr/>
        </p:nvSpPr>
        <p:spPr>
          <a:xfrm>
            <a:off x="5653875" y="6696075"/>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Aim &amp; Objectives</a:t>
            </a:r>
            <a:endParaRPr lang="en-US" sz="3000">
              <a:solidFill>
                <a:srgbClr val="333333"/>
              </a:solidFill>
              <a:latin typeface="Public Sans"/>
              <a:ea typeface="Public Sans"/>
              <a:cs typeface="Public Sans"/>
              <a:sym typeface="Public Sans"/>
            </a:endParaRPr>
          </a:p>
        </p:txBody>
      </p:sp>
      <p:sp>
        <p:nvSpPr>
          <p:cNvPr id="19" name="TextBox 19"/>
          <p:cNvSpPr txBox="1"/>
          <p:nvPr/>
        </p:nvSpPr>
        <p:spPr>
          <a:xfrm>
            <a:off x="5653875" y="7372350"/>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Scope &amp; Limitations</a:t>
            </a:r>
            <a:endParaRPr lang="en-US" sz="3000">
              <a:solidFill>
                <a:srgbClr val="333333"/>
              </a:solidFill>
              <a:latin typeface="Public Sans"/>
              <a:ea typeface="Public Sans"/>
              <a:cs typeface="Public Sans"/>
              <a:sym typeface="Public Sans"/>
            </a:endParaRPr>
          </a:p>
        </p:txBody>
      </p:sp>
      <p:sp>
        <p:nvSpPr>
          <p:cNvPr id="20" name="TextBox 20"/>
          <p:cNvSpPr txBox="1"/>
          <p:nvPr/>
        </p:nvSpPr>
        <p:spPr>
          <a:xfrm>
            <a:off x="5653875" y="8048625"/>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Methodology Overview</a:t>
            </a:r>
            <a:endParaRPr lang="en-US" sz="3000">
              <a:solidFill>
                <a:srgbClr val="333333"/>
              </a:solidFill>
              <a:latin typeface="Public Sans"/>
              <a:ea typeface="Public Sans"/>
              <a:cs typeface="Public Sans"/>
              <a:sym typeface="Public Sans"/>
            </a:endParaRPr>
          </a:p>
        </p:txBody>
      </p:sp>
      <p:sp>
        <p:nvSpPr>
          <p:cNvPr id="21" name="TextBox 21"/>
          <p:cNvSpPr txBox="1"/>
          <p:nvPr/>
        </p:nvSpPr>
        <p:spPr>
          <a:xfrm>
            <a:off x="5653875" y="8724900"/>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Variables</a:t>
            </a:r>
            <a:endParaRPr lang="en-US" sz="3000">
              <a:solidFill>
                <a:srgbClr val="333333"/>
              </a:solidFill>
              <a:latin typeface="Public Sans"/>
              <a:ea typeface="Public Sans"/>
              <a:cs typeface="Public Sans"/>
              <a:sym typeface="Public Sans"/>
            </a:endParaRPr>
          </a:p>
        </p:txBody>
      </p:sp>
      <p:sp>
        <p:nvSpPr>
          <p:cNvPr id="22" name="TextBox 22"/>
          <p:cNvSpPr txBox="1"/>
          <p:nvPr/>
        </p:nvSpPr>
        <p:spPr>
          <a:xfrm>
            <a:off x="5653875" y="5343442"/>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Background to the Study</a:t>
            </a:r>
            <a:endParaRPr lang="en-US" sz="3000">
              <a:solidFill>
                <a:srgbClr val="333333"/>
              </a:solidFill>
              <a:latin typeface="Public Sans"/>
              <a:ea typeface="Public Sans"/>
              <a:cs typeface="Public Sans"/>
              <a:sym typeface="Public Sans"/>
            </a:endParaRPr>
          </a:p>
        </p:txBody>
      </p:sp>
      <p:sp>
        <p:nvSpPr>
          <p:cNvPr id="23" name="TextBox 23"/>
          <p:cNvSpPr txBox="1"/>
          <p:nvPr/>
        </p:nvSpPr>
        <p:spPr>
          <a:xfrm>
            <a:off x="12222482" y="6019717"/>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AC</a:t>
            </a:r>
            <a:endParaRPr lang="en-US" sz="3000">
              <a:solidFill>
                <a:srgbClr val="333333"/>
              </a:solidFill>
              <a:latin typeface="Public Sans"/>
              <a:ea typeface="Public Sans"/>
              <a:cs typeface="Public Sans"/>
              <a:sym typeface="Public Sans"/>
            </a:endParaRPr>
          </a:p>
        </p:txBody>
      </p:sp>
      <p:sp>
        <p:nvSpPr>
          <p:cNvPr id="24" name="TextBox 24"/>
          <p:cNvSpPr txBox="1"/>
          <p:nvPr/>
        </p:nvSpPr>
        <p:spPr>
          <a:xfrm>
            <a:off x="12222482" y="6696075"/>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Financial Chart</a:t>
            </a:r>
            <a:endParaRPr lang="en-US" sz="3000">
              <a:solidFill>
                <a:srgbClr val="333333"/>
              </a:solidFill>
              <a:latin typeface="Public Sans"/>
              <a:ea typeface="Public Sans"/>
              <a:cs typeface="Public Sans"/>
              <a:sym typeface="Public Sans"/>
            </a:endParaRPr>
          </a:p>
        </p:txBody>
      </p:sp>
      <p:sp>
        <p:nvSpPr>
          <p:cNvPr id="25" name="TextBox 25"/>
          <p:cNvSpPr txBox="1"/>
          <p:nvPr/>
        </p:nvSpPr>
        <p:spPr>
          <a:xfrm>
            <a:off x="12222482" y="7372350"/>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Project Roadmap</a:t>
            </a:r>
            <a:endParaRPr lang="en-US" sz="3000">
              <a:solidFill>
                <a:srgbClr val="333333"/>
              </a:solidFill>
              <a:latin typeface="Public Sans"/>
              <a:ea typeface="Public Sans"/>
              <a:cs typeface="Public Sans"/>
              <a:sym typeface="Public Sans"/>
            </a:endParaRPr>
          </a:p>
        </p:txBody>
      </p:sp>
      <p:sp>
        <p:nvSpPr>
          <p:cNvPr id="26" name="TextBox 26"/>
          <p:cNvSpPr txBox="1"/>
          <p:nvPr/>
        </p:nvSpPr>
        <p:spPr>
          <a:xfrm>
            <a:off x="12222482" y="8048625"/>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Marketing Strategy</a:t>
            </a:r>
            <a:endParaRPr lang="en-US" sz="3000">
              <a:solidFill>
                <a:srgbClr val="333333"/>
              </a:solidFill>
              <a:latin typeface="Public Sans"/>
              <a:ea typeface="Public Sans"/>
              <a:cs typeface="Public Sans"/>
              <a:sym typeface="Public Sans"/>
            </a:endParaRPr>
          </a:p>
        </p:txBody>
      </p:sp>
      <p:sp>
        <p:nvSpPr>
          <p:cNvPr id="27" name="TextBox 27"/>
          <p:cNvSpPr txBox="1"/>
          <p:nvPr/>
        </p:nvSpPr>
        <p:spPr>
          <a:xfrm>
            <a:off x="12222482" y="8724900"/>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Our Team</a:t>
            </a:r>
            <a:endParaRPr lang="en-US" sz="3000">
              <a:solidFill>
                <a:srgbClr val="333333"/>
              </a:solidFill>
              <a:latin typeface="Public Sans"/>
              <a:ea typeface="Public Sans"/>
              <a:cs typeface="Public Sans"/>
              <a:sym typeface="Public Sans"/>
            </a:endParaRPr>
          </a:p>
        </p:txBody>
      </p:sp>
      <p:sp>
        <p:nvSpPr>
          <p:cNvPr id="28" name="TextBox 28"/>
          <p:cNvSpPr txBox="1"/>
          <p:nvPr/>
        </p:nvSpPr>
        <p:spPr>
          <a:xfrm>
            <a:off x="12222482" y="5343442"/>
            <a:ext cx="5036818" cy="533400"/>
          </a:xfrm>
          <a:prstGeom prst="rect">
            <a:avLst/>
          </a:prstGeom>
        </p:spPr>
        <p:txBody>
          <a:bodyPr lIns="0" tIns="0" rIns="0" bIns="0" rtlCol="0" anchor="t">
            <a:spAutoFit/>
          </a:bodyPr>
          <a:lstStyle/>
          <a:p>
            <a:pPr algn="just">
              <a:lnSpc>
                <a:spcPts val="4200"/>
              </a:lnSpc>
            </a:pPr>
            <a:r>
              <a:rPr lang="en-US" sz="3000">
                <a:solidFill>
                  <a:srgbClr val="333333"/>
                </a:solidFill>
                <a:latin typeface="Public Sans"/>
                <a:ea typeface="Public Sans"/>
                <a:cs typeface="Public Sans"/>
                <a:sym typeface="Public Sans"/>
              </a:rPr>
              <a:t>Related Works</a:t>
            </a:r>
            <a:endParaRPr lang="en-US" sz="3000">
              <a:solidFill>
                <a:srgbClr val="333333"/>
              </a:solidFill>
              <a:latin typeface="Public Sans"/>
              <a:ea typeface="Public Sans"/>
              <a:cs typeface="Public Sans"/>
              <a:sym typeface="Public Sans"/>
            </a:endParaRPr>
          </a:p>
        </p:txBody>
      </p:sp>
      <p:sp>
        <p:nvSpPr>
          <p:cNvPr id="29" name="TextBox 29"/>
          <p:cNvSpPr txBox="1"/>
          <p:nvPr/>
        </p:nvSpPr>
        <p:spPr>
          <a:xfrm>
            <a:off x="1028700" y="8826500"/>
            <a:ext cx="3091650" cy="431800"/>
          </a:xfrm>
          <a:prstGeom prst="rect">
            <a:avLst/>
          </a:prstGeom>
        </p:spPr>
        <p:txBody>
          <a:bodyPr lIns="0" tIns="0" rIns="0" bIns="0" rtlCol="0" anchor="t">
            <a:spAutoFit/>
          </a:bodyPr>
          <a:lstStyle/>
          <a:p>
            <a:pPr algn="l">
              <a:lnSpc>
                <a:spcPts val="3500"/>
              </a:lnSpc>
            </a:pPr>
            <a:r>
              <a:rPr lang="en-US" sz="2500" b="1">
                <a:solidFill>
                  <a:srgbClr val="333333"/>
                </a:solidFill>
                <a:latin typeface="Public Sans Bold"/>
                <a:ea typeface="Public Sans Bold"/>
                <a:cs typeface="Public Sans Bold"/>
                <a:sym typeface="Public Sans Bold"/>
              </a:rPr>
              <a:t>Jan 2026</a:t>
            </a:r>
            <a:endParaRPr lang="en-US" sz="2500" b="1">
              <a:solidFill>
                <a:srgbClr val="333333"/>
              </a:solidFill>
              <a:latin typeface="Public Sans Bold"/>
              <a:ea typeface="Public Sans Bold"/>
              <a:cs typeface="Public Sans Bold"/>
              <a:sym typeface="Public Sans Bold"/>
            </a:endParaRPr>
          </a:p>
        </p:txBody>
      </p:sp>
      <p:sp>
        <p:nvSpPr>
          <p:cNvPr id="30" name="AutoShape 30"/>
          <p:cNvSpPr/>
          <p:nvPr/>
        </p:nvSpPr>
        <p:spPr>
          <a:xfrm>
            <a:off x="8679763" y="3657517"/>
            <a:ext cx="3559327" cy="0"/>
          </a:xfrm>
          <a:prstGeom prst="line">
            <a:avLst/>
          </a:prstGeom>
          <a:ln w="47625" cap="flat">
            <a:solidFill>
              <a:srgbClr val="333333"/>
            </a:solidFill>
            <a:prstDash val="solid"/>
            <a:headEnd type="none" w="sm" len="sm"/>
            <a:tailEnd type="arrow" w="med" len="sm"/>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extBox 2"/>
          <p:cNvSpPr txBox="1"/>
          <p:nvPr/>
        </p:nvSpPr>
        <p:spPr>
          <a:xfrm>
            <a:off x="1028700" y="2193799"/>
            <a:ext cx="11293394" cy="3019425"/>
          </a:xfrm>
          <a:prstGeom prst="rect">
            <a:avLst/>
          </a:prstGeom>
        </p:spPr>
        <p:txBody>
          <a:bodyPr lIns="0" tIns="0" rIns="0" bIns="0" rtlCol="0" anchor="t">
            <a:spAutoFit/>
          </a:bodyPr>
          <a:lstStyle/>
          <a:p>
            <a:pPr algn="l">
              <a:lnSpc>
                <a:spcPts val="12000"/>
              </a:lnSpc>
            </a:pPr>
            <a:r>
              <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Background to</a:t>
            </a:r>
            <a:endPar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a:p>
            <a:pPr algn="l">
              <a:lnSpc>
                <a:spcPts val="12000"/>
              </a:lnSpc>
            </a:pPr>
            <a:r>
              <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the Study</a:t>
            </a:r>
            <a:endPar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3" name="AutoShape 3"/>
          <p:cNvSpPr/>
          <p:nvPr/>
        </p:nvSpPr>
        <p:spPr>
          <a:xfrm>
            <a:off x="1028700" y="1198437"/>
            <a:ext cx="16230600" cy="0"/>
          </a:xfrm>
          <a:prstGeom prst="line">
            <a:avLst/>
          </a:prstGeom>
          <a:ln w="28575" cap="flat">
            <a:solidFill>
              <a:srgbClr val="333333"/>
            </a:solidFill>
            <a:prstDash val="solid"/>
            <a:headEnd type="none" w="sm" len="sm"/>
            <a:tailEnd type="none" w="sm" len="sm"/>
          </a:ln>
        </p:spPr>
      </p:sp>
      <p:sp>
        <p:nvSpPr>
          <p:cNvPr id="4" name="AutoShape 4"/>
          <p:cNvSpPr/>
          <p:nvPr/>
        </p:nvSpPr>
        <p:spPr>
          <a:xfrm>
            <a:off x="8762767" y="4588143"/>
            <a:ext cx="3559327" cy="0"/>
          </a:xfrm>
          <a:prstGeom prst="line">
            <a:avLst/>
          </a:prstGeom>
          <a:ln w="47625" cap="flat">
            <a:solidFill>
              <a:srgbClr val="333333"/>
            </a:solidFill>
            <a:prstDash val="solid"/>
            <a:headEnd type="none" w="sm" len="sm"/>
            <a:tailEnd type="arrow" w="med" len="sm"/>
          </a:ln>
        </p:spPr>
      </p:sp>
      <p:sp>
        <p:nvSpPr>
          <p:cNvPr id="5" name="Freeform 5"/>
          <p:cNvSpPr/>
          <p:nvPr/>
        </p:nvSpPr>
        <p:spPr>
          <a:xfrm>
            <a:off x="13591473" y="1582082"/>
            <a:ext cx="4414227" cy="4364567"/>
          </a:xfrm>
          <a:custGeom>
            <a:avLst/>
            <a:gdLst/>
            <a:ahLst/>
            <a:cxnLst/>
            <a:rect l="l" t="t" r="r" b="b"/>
            <a:pathLst>
              <a:path w="4414227" h="4364567">
                <a:moveTo>
                  <a:pt x="0" y="0"/>
                </a:moveTo>
                <a:lnTo>
                  <a:pt x="4414227" y="0"/>
                </a:lnTo>
                <a:lnTo>
                  <a:pt x="4414227" y="4364567"/>
                </a:lnTo>
                <a:lnTo>
                  <a:pt x="0" y="4364567"/>
                </a:lnTo>
                <a:lnTo>
                  <a:pt x="0" y="0"/>
                </a:lnTo>
                <a:close/>
              </a:path>
            </a:pathLst>
          </a:custGeom>
          <a:blipFill>
            <a:blip r:embed="rId1">
              <a:extLst>
                <a:ext uri="{96DAC541-7B7A-43D3-8B79-37D633B846F1}">
                  <asvg:svgBlip xmlns:asvg="http://schemas.microsoft.com/office/drawing/2016/SVG/main" r:embed="rId2"/>
                </a:ext>
              </a:extLst>
            </a:blip>
            <a:stretch>
              <a:fillRect t="-48" b="-48"/>
            </a:stretch>
          </a:blipFill>
        </p:spPr>
      </p:sp>
      <p:sp>
        <p:nvSpPr>
          <p:cNvPr id="6" name="TextBox 6"/>
          <p:cNvSpPr txBox="1"/>
          <p:nvPr/>
        </p:nvSpPr>
        <p:spPr>
          <a:xfrm>
            <a:off x="1169619" y="5937124"/>
            <a:ext cx="16089681" cy="2957616"/>
          </a:xfrm>
          <a:prstGeom prst="rect">
            <a:avLst/>
          </a:prstGeom>
        </p:spPr>
        <p:txBody>
          <a:bodyPr lIns="0" tIns="0" rIns="0" bIns="0" rtlCol="0" anchor="t">
            <a:spAutoFit/>
          </a:bodyPr>
          <a:lstStyle/>
          <a:p>
            <a:pPr algn="just">
              <a:lnSpc>
                <a:spcPts val="3945"/>
              </a:lnSpc>
            </a:pPr>
            <a:r>
              <a:rPr lang="en-US" sz="2815">
                <a:solidFill>
                  <a:srgbClr val="333333"/>
                </a:solidFill>
                <a:latin typeface="Public Sans"/>
                <a:ea typeface="Public Sans"/>
                <a:cs typeface="Public Sans"/>
                <a:sym typeface="Public Sans"/>
              </a:rPr>
              <a:t>Academic performance is a key indicator of students’ success and institutional effectiveness in </a:t>
            </a:r>
            <a:endParaRPr lang="en-US" sz="2815">
              <a:solidFill>
                <a:srgbClr val="333333"/>
              </a:solidFill>
              <a:latin typeface="Public Sans"/>
              <a:ea typeface="Public Sans"/>
              <a:cs typeface="Public Sans"/>
              <a:sym typeface="Public Sans"/>
            </a:endParaRPr>
          </a:p>
          <a:p>
            <a:pPr algn="just">
              <a:lnSpc>
                <a:spcPts val="3945"/>
              </a:lnSpc>
            </a:pPr>
            <a:r>
              <a:rPr lang="en-US" sz="2815">
                <a:solidFill>
                  <a:srgbClr val="333333"/>
                </a:solidFill>
                <a:latin typeface="Public Sans"/>
                <a:ea typeface="Public Sans"/>
                <a:cs typeface="Public Sans"/>
                <a:sym typeface="Public Sans"/>
              </a:rPr>
              <a:t>higher education. It reflects how well students understand course content and meet academic</a:t>
            </a:r>
            <a:endParaRPr lang="en-US" sz="2815">
              <a:solidFill>
                <a:srgbClr val="333333"/>
              </a:solidFill>
              <a:latin typeface="Public Sans"/>
              <a:ea typeface="Public Sans"/>
              <a:cs typeface="Public Sans"/>
              <a:sym typeface="Public Sans"/>
            </a:endParaRPr>
          </a:p>
          <a:p>
            <a:pPr algn="just">
              <a:lnSpc>
                <a:spcPts val="3945"/>
              </a:lnSpc>
            </a:pPr>
            <a:r>
              <a:rPr lang="en-US" sz="2815">
                <a:solidFill>
                  <a:srgbClr val="333333"/>
                </a:solidFill>
                <a:latin typeface="Public Sans"/>
                <a:ea typeface="Public Sans"/>
                <a:cs typeface="Public Sans"/>
                <a:sym typeface="Public Sans"/>
              </a:rPr>
              <a:t> requirements over time. In tertiary institutions, students’ academic performance is commonly </a:t>
            </a:r>
            <a:endParaRPr lang="en-US" sz="2815">
              <a:solidFill>
                <a:srgbClr val="333333"/>
              </a:solidFill>
              <a:latin typeface="Public Sans"/>
              <a:ea typeface="Public Sans"/>
              <a:cs typeface="Public Sans"/>
              <a:sym typeface="Public Sans"/>
            </a:endParaRPr>
          </a:p>
          <a:p>
            <a:pPr algn="just">
              <a:lnSpc>
                <a:spcPts val="3945"/>
              </a:lnSpc>
            </a:pPr>
            <a:r>
              <a:rPr lang="en-US" sz="2815">
                <a:solidFill>
                  <a:srgbClr val="333333"/>
                </a:solidFill>
                <a:latin typeface="Public Sans"/>
                <a:ea typeface="Public Sans"/>
                <a:cs typeface="Public Sans"/>
                <a:sym typeface="Public Sans"/>
              </a:rPr>
              <a:t>measured using the Grade Point Average (GPA) or Cumulative Grade Point Average (CGPA), </a:t>
            </a:r>
            <a:endParaRPr lang="en-US" sz="2815">
              <a:solidFill>
                <a:srgbClr val="333333"/>
              </a:solidFill>
              <a:latin typeface="Public Sans"/>
              <a:ea typeface="Public Sans"/>
              <a:cs typeface="Public Sans"/>
              <a:sym typeface="Public Sans"/>
            </a:endParaRPr>
          </a:p>
          <a:p>
            <a:pPr algn="just">
              <a:lnSpc>
                <a:spcPts val="3945"/>
              </a:lnSpc>
            </a:pPr>
            <a:r>
              <a:rPr lang="en-US" sz="2815">
                <a:solidFill>
                  <a:srgbClr val="333333"/>
                </a:solidFill>
                <a:latin typeface="Public Sans"/>
                <a:ea typeface="Public Sans"/>
                <a:cs typeface="Public Sans"/>
                <a:sym typeface="Public Sans"/>
              </a:rPr>
              <a:t>which often varies across semesters due to academic workload, study habits, attendance, and </a:t>
            </a:r>
            <a:endParaRPr lang="en-US" sz="2815">
              <a:solidFill>
                <a:srgbClr val="333333"/>
              </a:solidFill>
              <a:latin typeface="Public Sans"/>
              <a:ea typeface="Public Sans"/>
              <a:cs typeface="Public Sans"/>
              <a:sym typeface="Public Sans"/>
            </a:endParaRPr>
          </a:p>
          <a:p>
            <a:pPr algn="just">
              <a:lnSpc>
                <a:spcPts val="3945"/>
              </a:lnSpc>
            </a:pPr>
            <a:r>
              <a:rPr lang="en-US" sz="2815">
                <a:solidFill>
                  <a:srgbClr val="333333"/>
                </a:solidFill>
                <a:latin typeface="Public Sans"/>
                <a:ea typeface="Public Sans"/>
                <a:cs typeface="Public Sans"/>
                <a:sym typeface="Public Sans"/>
              </a:rPr>
              <a:t>prior academic achievement.</a:t>
            </a:r>
            <a:endParaRPr lang="en-US" sz="2815">
              <a:solidFill>
                <a:srgbClr val="333333"/>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extBox 2"/>
          <p:cNvSpPr txBox="1"/>
          <p:nvPr/>
        </p:nvSpPr>
        <p:spPr>
          <a:xfrm>
            <a:off x="1028700" y="2193799"/>
            <a:ext cx="11293394" cy="3019425"/>
          </a:xfrm>
          <a:prstGeom prst="rect">
            <a:avLst/>
          </a:prstGeom>
        </p:spPr>
        <p:txBody>
          <a:bodyPr lIns="0" tIns="0" rIns="0" bIns="0" rtlCol="0" anchor="t">
            <a:spAutoFit/>
          </a:bodyPr>
          <a:lstStyle/>
          <a:p>
            <a:pPr algn="l">
              <a:lnSpc>
                <a:spcPts val="12000"/>
              </a:lnSpc>
            </a:pPr>
            <a:r>
              <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Background to</a:t>
            </a:r>
            <a:endPar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a:p>
            <a:pPr algn="l">
              <a:lnSpc>
                <a:spcPts val="12000"/>
              </a:lnSpc>
            </a:pPr>
            <a:r>
              <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the Study</a:t>
            </a:r>
            <a:endPar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3" name="TextBox 3"/>
          <p:cNvSpPr txBox="1"/>
          <p:nvPr/>
        </p:nvSpPr>
        <p:spPr>
          <a:xfrm>
            <a:off x="1169619" y="5937124"/>
            <a:ext cx="16089681" cy="2957616"/>
          </a:xfrm>
          <a:prstGeom prst="rect">
            <a:avLst/>
          </a:prstGeom>
        </p:spPr>
        <p:txBody>
          <a:bodyPr lIns="0" tIns="0" rIns="0" bIns="0" rtlCol="0" anchor="t">
            <a:spAutoFit/>
          </a:bodyPr>
          <a:lstStyle/>
          <a:p>
            <a:pPr algn="just">
              <a:lnSpc>
                <a:spcPts val="3945"/>
              </a:lnSpc>
            </a:pPr>
            <a:r>
              <a:rPr lang="en-US" sz="2815">
                <a:solidFill>
                  <a:srgbClr val="333333"/>
                </a:solidFill>
                <a:latin typeface="Public Sans"/>
                <a:ea typeface="Public Sans"/>
                <a:cs typeface="Public Sans"/>
                <a:sym typeface="Public Sans"/>
              </a:rPr>
              <a:t>In recent years, there has been increasing interest in the application of mathematical and statistical techniques to analyze and predict students’ academic performance. Applied mathematics provides tools such as regression analysis, time-series modelling, and stochastic processes that can be used to describe performance trends, identify influential factors, and forecast future outcomes. These models are valuable for academic planning, early identification of at-risk students, and informed decision-making by educational administrators</a:t>
            </a:r>
            <a:endParaRPr lang="en-US" sz="2815">
              <a:solidFill>
                <a:srgbClr val="333333"/>
              </a:solidFill>
              <a:latin typeface="Public Sans"/>
              <a:ea typeface="Public Sans"/>
              <a:cs typeface="Public Sans"/>
              <a:sym typeface="Public Sans"/>
            </a:endParaRPr>
          </a:p>
        </p:txBody>
      </p:sp>
      <p:sp>
        <p:nvSpPr>
          <p:cNvPr id="4" name="AutoShape 4"/>
          <p:cNvSpPr/>
          <p:nvPr/>
        </p:nvSpPr>
        <p:spPr>
          <a:xfrm>
            <a:off x="1028700" y="1198437"/>
            <a:ext cx="16230600" cy="0"/>
          </a:xfrm>
          <a:prstGeom prst="line">
            <a:avLst/>
          </a:prstGeom>
          <a:ln w="28575" cap="flat">
            <a:solidFill>
              <a:srgbClr val="333333"/>
            </a:solidFill>
            <a:prstDash val="solid"/>
            <a:headEnd type="none" w="sm" len="sm"/>
            <a:tailEnd type="none" w="sm" len="sm"/>
          </a:ln>
        </p:spPr>
      </p:sp>
      <p:sp>
        <p:nvSpPr>
          <p:cNvPr id="5" name="AutoShape 5"/>
          <p:cNvSpPr/>
          <p:nvPr/>
        </p:nvSpPr>
        <p:spPr>
          <a:xfrm>
            <a:off x="8762767" y="4588143"/>
            <a:ext cx="3559327" cy="0"/>
          </a:xfrm>
          <a:prstGeom prst="line">
            <a:avLst/>
          </a:prstGeom>
          <a:ln w="47625" cap="flat">
            <a:solidFill>
              <a:srgbClr val="333333"/>
            </a:solidFill>
            <a:prstDash val="solid"/>
            <a:headEnd type="none" w="sm" len="sm"/>
            <a:tailEnd type="arrow" w="med" len="sm"/>
          </a:ln>
        </p:spPr>
      </p:sp>
      <p:sp>
        <p:nvSpPr>
          <p:cNvPr id="6" name="Freeform 6"/>
          <p:cNvSpPr/>
          <p:nvPr/>
        </p:nvSpPr>
        <p:spPr>
          <a:xfrm>
            <a:off x="13591473" y="1582082"/>
            <a:ext cx="4414227" cy="4364567"/>
          </a:xfrm>
          <a:custGeom>
            <a:avLst/>
            <a:gdLst/>
            <a:ahLst/>
            <a:cxnLst/>
            <a:rect l="l" t="t" r="r" b="b"/>
            <a:pathLst>
              <a:path w="4414227" h="4364567">
                <a:moveTo>
                  <a:pt x="0" y="0"/>
                </a:moveTo>
                <a:lnTo>
                  <a:pt x="4414227" y="0"/>
                </a:lnTo>
                <a:lnTo>
                  <a:pt x="4414227" y="4364567"/>
                </a:lnTo>
                <a:lnTo>
                  <a:pt x="0" y="4364567"/>
                </a:lnTo>
                <a:lnTo>
                  <a:pt x="0" y="0"/>
                </a:lnTo>
                <a:close/>
              </a:path>
            </a:pathLst>
          </a:custGeom>
          <a:blipFill>
            <a:blip r:embed="rId1">
              <a:extLst>
                <a:ext uri="{96DAC541-7B7A-43D3-8B79-37D633B846F1}">
                  <asvg:svgBlip xmlns:asvg="http://schemas.microsoft.com/office/drawing/2016/SVG/main" r:embed="rId2"/>
                </a:ext>
              </a:extLst>
            </a:blip>
            <a:stretch>
              <a:fillRect t="-48" b="-48"/>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028700" y="1268392"/>
            <a:ext cx="16230600" cy="0"/>
          </a:xfrm>
          <a:prstGeom prst="line">
            <a:avLst/>
          </a:prstGeom>
          <a:ln w="28575" cap="flat">
            <a:solidFill>
              <a:srgbClr val="333333"/>
            </a:solidFill>
            <a:prstDash val="solid"/>
            <a:headEnd type="none" w="sm" len="sm"/>
            <a:tailEnd type="none" w="sm" len="sm"/>
          </a:ln>
        </p:spPr>
      </p:sp>
      <p:sp>
        <p:nvSpPr>
          <p:cNvPr id="3" name="AutoShape 3"/>
          <p:cNvSpPr/>
          <p:nvPr/>
        </p:nvSpPr>
        <p:spPr>
          <a:xfrm>
            <a:off x="12216068" y="2993201"/>
            <a:ext cx="3559327" cy="0"/>
          </a:xfrm>
          <a:prstGeom prst="line">
            <a:avLst/>
          </a:prstGeom>
          <a:ln w="47625" cap="flat">
            <a:solidFill>
              <a:srgbClr val="333333"/>
            </a:solidFill>
            <a:prstDash val="solid"/>
            <a:headEnd type="none" w="sm" len="sm"/>
            <a:tailEnd type="arrow" w="med" len="sm"/>
          </a:ln>
        </p:spPr>
      </p:sp>
      <p:pic>
        <p:nvPicPr>
          <p:cNvPr id="4" name="Picture 4"/>
          <p:cNvPicPr>
            <a:picLocks noChangeAspect="1"/>
          </p:cNvPicPr>
          <p:nvPr/>
        </p:nvPicPr>
        <p:blipFill>
          <a:blip r:embed="rId1"/>
          <a:stretch>
            <a:fillRect/>
          </a:stretch>
        </p:blipFill>
        <p:spPr>
          <a:xfrm>
            <a:off x="11753518" y="3630549"/>
            <a:ext cx="5550595" cy="5420839"/>
          </a:xfrm>
          <a:prstGeom prst="rect">
            <a:avLst/>
          </a:prstGeom>
        </p:spPr>
      </p:pic>
      <p:sp>
        <p:nvSpPr>
          <p:cNvPr id="5" name="Freeform 5"/>
          <p:cNvSpPr/>
          <p:nvPr/>
        </p:nvSpPr>
        <p:spPr>
          <a:xfrm>
            <a:off x="11206406" y="4144148"/>
            <a:ext cx="6644820" cy="5349080"/>
          </a:xfrm>
          <a:custGeom>
            <a:avLst/>
            <a:gdLst/>
            <a:ahLst/>
            <a:cxnLst/>
            <a:rect l="l" t="t" r="r" b="b"/>
            <a:pathLst>
              <a:path w="6644820" h="5349080">
                <a:moveTo>
                  <a:pt x="0" y="0"/>
                </a:moveTo>
                <a:lnTo>
                  <a:pt x="6644820" y="0"/>
                </a:lnTo>
                <a:lnTo>
                  <a:pt x="6644820" y="5349080"/>
                </a:lnTo>
                <a:lnTo>
                  <a:pt x="0" y="5349080"/>
                </a:lnTo>
                <a:lnTo>
                  <a:pt x="0" y="0"/>
                </a:lnTo>
                <a:close/>
              </a:path>
            </a:pathLst>
          </a:custGeom>
          <a:blipFill>
            <a:blip r:embed="rId2"/>
            <a:stretch>
              <a:fillRect/>
            </a:stretch>
          </a:blipFill>
        </p:spPr>
      </p:sp>
      <p:sp>
        <p:nvSpPr>
          <p:cNvPr id="6" name="TextBox 6"/>
          <p:cNvSpPr txBox="1"/>
          <p:nvPr/>
        </p:nvSpPr>
        <p:spPr>
          <a:xfrm>
            <a:off x="1028700" y="1958955"/>
            <a:ext cx="7924800" cy="2392343"/>
          </a:xfrm>
          <a:prstGeom prst="rect">
            <a:avLst/>
          </a:prstGeom>
        </p:spPr>
        <p:txBody>
          <a:bodyPr lIns="0" tIns="0" rIns="0" bIns="0" rtlCol="0" anchor="t">
            <a:spAutoFit/>
          </a:bodyPr>
          <a:lstStyle/>
          <a:p>
            <a:pPr algn="l">
              <a:lnSpc>
                <a:spcPts val="9035"/>
              </a:lnSpc>
            </a:pPr>
            <a:r>
              <a:rPr lang="en-US" sz="10040" b="1" spc="-461">
                <a:solidFill>
                  <a:srgbClr val="000000"/>
                </a:solidFill>
                <a:latin typeface="Raleway Medium"/>
                <a:ea typeface="Raleway Medium"/>
                <a:cs typeface="Raleway Medium"/>
                <a:sym typeface="Raleway Medium"/>
              </a:rPr>
              <a:t>Problem </a:t>
            </a:r>
            <a:endParaRPr lang="en-US" sz="10040" b="1" spc="-461">
              <a:solidFill>
                <a:srgbClr val="000000"/>
              </a:solidFill>
              <a:latin typeface="Raleway Medium"/>
              <a:ea typeface="Raleway Medium"/>
              <a:cs typeface="Raleway Medium"/>
              <a:sym typeface="Raleway Medium"/>
            </a:endParaRPr>
          </a:p>
          <a:p>
            <a:pPr marL="0" lvl="1" indent="0" algn="l">
              <a:lnSpc>
                <a:spcPts val="9035"/>
              </a:lnSpc>
            </a:pPr>
            <a:r>
              <a:rPr lang="en-US" sz="10040" b="1" spc="-461">
                <a:solidFill>
                  <a:srgbClr val="000000"/>
                </a:solidFill>
                <a:latin typeface="Raleway Medium"/>
                <a:ea typeface="Raleway Medium"/>
                <a:cs typeface="Raleway Medium"/>
                <a:sym typeface="Raleway Medium"/>
              </a:rPr>
              <a:t>Statement</a:t>
            </a:r>
            <a:endParaRPr lang="en-US" sz="10040" b="1" spc="-461">
              <a:solidFill>
                <a:srgbClr val="000000"/>
              </a:solidFill>
              <a:latin typeface="Raleway Medium"/>
              <a:ea typeface="Raleway Medium"/>
              <a:cs typeface="Raleway Medium"/>
              <a:sym typeface="Raleway Medium"/>
            </a:endParaRPr>
          </a:p>
        </p:txBody>
      </p:sp>
      <p:grpSp>
        <p:nvGrpSpPr>
          <p:cNvPr id="7" name="Group 7"/>
          <p:cNvGrpSpPr/>
          <p:nvPr/>
        </p:nvGrpSpPr>
        <p:grpSpPr>
          <a:xfrm rot="0">
            <a:off x="1028700" y="4292591"/>
            <a:ext cx="10018895" cy="5001146"/>
            <a:chOff x="0" y="0"/>
            <a:chExt cx="13358527" cy="6668194"/>
          </a:xfrm>
        </p:grpSpPr>
        <p:sp>
          <p:nvSpPr>
            <p:cNvPr id="8" name="Freeform 8"/>
            <p:cNvSpPr/>
            <p:nvPr/>
          </p:nvSpPr>
          <p:spPr>
            <a:xfrm>
              <a:off x="0" y="0"/>
              <a:ext cx="13358527" cy="6668195"/>
            </a:xfrm>
            <a:custGeom>
              <a:avLst/>
              <a:gdLst/>
              <a:ahLst/>
              <a:cxnLst/>
              <a:rect l="l" t="t" r="r" b="b"/>
              <a:pathLst>
                <a:path w="13358527" h="6668195">
                  <a:moveTo>
                    <a:pt x="0" y="0"/>
                  </a:moveTo>
                  <a:lnTo>
                    <a:pt x="13358527" y="0"/>
                  </a:lnTo>
                  <a:lnTo>
                    <a:pt x="13358527" y="6668195"/>
                  </a:lnTo>
                  <a:lnTo>
                    <a:pt x="0" y="6668195"/>
                  </a:lnTo>
                  <a:close/>
                </a:path>
              </a:pathLst>
            </a:custGeom>
            <a:solidFill>
              <a:srgbClr val="000000">
                <a:alpha val="0"/>
              </a:srgbClr>
            </a:solidFill>
          </p:spPr>
        </p:sp>
        <p:sp>
          <p:nvSpPr>
            <p:cNvPr id="9" name="TextBox 9"/>
            <p:cNvSpPr txBox="1"/>
            <p:nvPr/>
          </p:nvSpPr>
          <p:spPr>
            <a:xfrm>
              <a:off x="0" y="-76200"/>
              <a:ext cx="13358527" cy="6744394"/>
            </a:xfrm>
            <a:prstGeom prst="rect">
              <a:avLst/>
            </a:prstGeom>
          </p:spPr>
          <p:txBody>
            <a:bodyPr lIns="0" tIns="0" rIns="0" bIns="0" rtlCol="0" anchor="t"/>
            <a:lstStyle/>
            <a:p>
              <a:pPr algn="just">
                <a:lnSpc>
                  <a:spcPts val="4350"/>
                </a:lnSpc>
              </a:pPr>
              <a:r>
                <a:rPr lang="en-US" sz="2900">
                  <a:solidFill>
                    <a:srgbClr val="000000"/>
                  </a:solidFill>
                  <a:latin typeface="Montserrat" panose="00000500000000000000"/>
                  <a:ea typeface="Montserrat" panose="00000500000000000000"/>
                  <a:cs typeface="Montserrat" panose="00000500000000000000"/>
                  <a:sym typeface="Montserrat" panose="00000500000000000000"/>
                </a:rPr>
                <a:t>Students’ academic performance in higher education often varies from one semester to another due to difference in academic workload, study habits, attendance and prior academic achievements. However most institutions rely on raw data without systematically analysing these factors or predicting future performance. This lack of quantitative insight makes it hard to identify students who are not performing well and to take quick actions.</a:t>
              </a:r>
              <a:endParaRPr lang="en-US" sz="2900">
                <a:solidFill>
                  <a:srgbClr val="000000"/>
                </a:solidFill>
                <a:latin typeface="Montserrat" panose="00000500000000000000"/>
                <a:ea typeface="Montserrat" panose="00000500000000000000"/>
                <a:cs typeface="Montserrat" panose="00000500000000000000"/>
                <a:sym typeface="Montserrat" panose="0000050000000000000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Freeform 2"/>
          <p:cNvSpPr/>
          <p:nvPr/>
        </p:nvSpPr>
        <p:spPr>
          <a:xfrm>
            <a:off x="12199437" y="3021916"/>
            <a:ext cx="4173642" cy="4399096"/>
          </a:xfrm>
          <a:custGeom>
            <a:avLst/>
            <a:gdLst/>
            <a:ahLst/>
            <a:cxnLst/>
            <a:rect l="l" t="t" r="r" b="b"/>
            <a:pathLst>
              <a:path w="4173642" h="4399096">
                <a:moveTo>
                  <a:pt x="0" y="0"/>
                </a:moveTo>
                <a:lnTo>
                  <a:pt x="4173642" y="0"/>
                </a:lnTo>
                <a:lnTo>
                  <a:pt x="4173642" y="4399095"/>
                </a:lnTo>
                <a:lnTo>
                  <a:pt x="0" y="439909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1268392"/>
            <a:ext cx="16230600" cy="0"/>
          </a:xfrm>
          <a:prstGeom prst="line">
            <a:avLst/>
          </a:prstGeom>
          <a:ln w="28575" cap="flat">
            <a:solidFill>
              <a:srgbClr val="333333"/>
            </a:solidFill>
            <a:prstDash val="solid"/>
            <a:headEnd type="none" w="sm" len="sm"/>
            <a:tailEnd type="none" w="sm" len="sm"/>
          </a:ln>
        </p:spPr>
      </p:sp>
      <p:sp>
        <p:nvSpPr>
          <p:cNvPr id="4" name="TextBox 4"/>
          <p:cNvSpPr txBox="1"/>
          <p:nvPr/>
        </p:nvSpPr>
        <p:spPr>
          <a:xfrm>
            <a:off x="1220670" y="2184430"/>
            <a:ext cx="9172991" cy="5675373"/>
          </a:xfrm>
          <a:prstGeom prst="rect">
            <a:avLst/>
          </a:prstGeom>
        </p:spPr>
        <p:txBody>
          <a:bodyPr lIns="0" tIns="0" rIns="0" bIns="0" rtlCol="0" anchor="t">
            <a:spAutoFit/>
          </a:bodyPr>
          <a:lstStyle/>
          <a:p>
            <a:pPr algn="l">
              <a:lnSpc>
                <a:spcPts val="4995"/>
              </a:lnSpc>
            </a:pPr>
            <a:r>
              <a:rPr lang="en-US" sz="3565" b="1">
                <a:solidFill>
                  <a:srgbClr val="000000"/>
                </a:solidFill>
                <a:latin typeface="Canva Sans Bold" panose="020B0803030501040103"/>
                <a:ea typeface="Canva Sans Bold" panose="020B0803030501040103"/>
                <a:cs typeface="Canva Sans Bold" panose="020B0803030501040103"/>
                <a:sym typeface="Canva Sans Bold" panose="020B0803030501040103"/>
              </a:rPr>
              <a:t>AIM</a:t>
            </a:r>
            <a:endParaRPr lang="en-US" sz="356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just">
              <a:lnSpc>
                <a:spcPts val="4995"/>
              </a:lnSpc>
            </a:pPr>
            <a:r>
              <a:rPr lang="en-US" sz="3565">
                <a:solidFill>
                  <a:srgbClr val="000000"/>
                </a:solidFill>
                <a:latin typeface="Public Sans"/>
                <a:ea typeface="Public Sans"/>
                <a:cs typeface="Public Sans"/>
                <a:sym typeface="Public Sans"/>
              </a:rPr>
              <a:t>The principal goal of this research is to apply mathematical and statistical modelling techniques to academic performance data in order to identify trends, quantify influencing factors and predict students’ academic outcomes for improved decision-making.</a:t>
            </a:r>
            <a:endParaRPr lang="en-US" sz="3565">
              <a:solidFill>
                <a:srgbClr val="000000"/>
              </a:solidFill>
              <a:latin typeface="Public Sans"/>
              <a:ea typeface="Public Sans"/>
              <a:cs typeface="Public Sans"/>
              <a:sym typeface="Public Sans"/>
            </a:endParaRPr>
          </a:p>
          <a:p>
            <a:pPr algn="just">
              <a:lnSpc>
                <a:spcPts val="4995"/>
              </a:lnSpc>
              <a:spcBef>
                <a:spcPct val="0"/>
              </a:spcBef>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7936203" y="4731002"/>
            <a:ext cx="8260669" cy="0"/>
          </a:xfrm>
          <a:prstGeom prst="line">
            <a:avLst/>
          </a:prstGeom>
          <a:ln w="28575" cap="flat">
            <a:solidFill>
              <a:srgbClr val="000000"/>
            </a:solidFill>
            <a:prstDash val="solid"/>
            <a:headEnd type="none" w="sm" len="sm"/>
            <a:tailEnd type="none" w="sm" len="sm"/>
          </a:ln>
        </p:spPr>
      </p:sp>
      <p:sp>
        <p:nvSpPr>
          <p:cNvPr id="3" name="AutoShape 3"/>
          <p:cNvSpPr/>
          <p:nvPr/>
        </p:nvSpPr>
        <p:spPr>
          <a:xfrm>
            <a:off x="7910607" y="6845260"/>
            <a:ext cx="8260669" cy="0"/>
          </a:xfrm>
          <a:prstGeom prst="line">
            <a:avLst/>
          </a:prstGeom>
          <a:ln w="28575" cap="flat">
            <a:solidFill>
              <a:srgbClr val="000000"/>
            </a:solidFill>
            <a:prstDash val="solid"/>
            <a:headEnd type="none" w="sm" len="sm"/>
            <a:tailEnd type="none" w="sm" len="sm"/>
          </a:ln>
        </p:spPr>
      </p:sp>
      <p:grpSp>
        <p:nvGrpSpPr>
          <p:cNvPr id="4" name="Group 4"/>
          <p:cNvGrpSpPr/>
          <p:nvPr/>
        </p:nvGrpSpPr>
        <p:grpSpPr>
          <a:xfrm rot="0">
            <a:off x="7910607" y="3021244"/>
            <a:ext cx="167701" cy="225229"/>
            <a:chOff x="0" y="0"/>
            <a:chExt cx="38072" cy="51132"/>
          </a:xfrm>
        </p:grpSpPr>
        <p:sp>
          <p:nvSpPr>
            <p:cNvPr id="5" name="Freeform 5"/>
            <p:cNvSpPr/>
            <p:nvPr/>
          </p:nvSpPr>
          <p:spPr>
            <a:xfrm>
              <a:off x="0" y="0"/>
              <a:ext cx="38072" cy="51132"/>
            </a:xfrm>
            <a:custGeom>
              <a:avLst/>
              <a:gdLst/>
              <a:ahLst/>
              <a:cxnLst/>
              <a:rect l="l" t="t" r="r" b="b"/>
              <a:pathLst>
                <a:path w="38072" h="51132">
                  <a:moveTo>
                    <a:pt x="19036" y="0"/>
                  </a:moveTo>
                  <a:lnTo>
                    <a:pt x="19036" y="0"/>
                  </a:lnTo>
                  <a:cubicBezTo>
                    <a:pt x="29549" y="0"/>
                    <a:pt x="38072" y="8523"/>
                    <a:pt x="38072" y="19036"/>
                  </a:cubicBezTo>
                  <a:lnTo>
                    <a:pt x="38072" y="32096"/>
                  </a:lnTo>
                  <a:cubicBezTo>
                    <a:pt x="38072" y="37145"/>
                    <a:pt x="36067" y="41987"/>
                    <a:pt x="32497" y="45557"/>
                  </a:cubicBezTo>
                  <a:cubicBezTo>
                    <a:pt x="28927" y="49127"/>
                    <a:pt x="24085" y="51132"/>
                    <a:pt x="19036" y="51132"/>
                  </a:cubicBezTo>
                  <a:lnTo>
                    <a:pt x="19036" y="51132"/>
                  </a:lnTo>
                  <a:cubicBezTo>
                    <a:pt x="8523" y="51132"/>
                    <a:pt x="0" y="42610"/>
                    <a:pt x="0" y="32096"/>
                  </a:cubicBezTo>
                  <a:lnTo>
                    <a:pt x="0" y="19036"/>
                  </a:lnTo>
                  <a:cubicBezTo>
                    <a:pt x="0" y="13987"/>
                    <a:pt x="2006" y="9145"/>
                    <a:pt x="5576" y="5576"/>
                  </a:cubicBezTo>
                  <a:cubicBezTo>
                    <a:pt x="9145" y="2006"/>
                    <a:pt x="13987" y="0"/>
                    <a:pt x="19036" y="0"/>
                  </a:cubicBezTo>
                  <a:close/>
                </a:path>
              </a:pathLst>
            </a:custGeom>
            <a:solidFill>
              <a:srgbClr val="000000"/>
            </a:solidFill>
          </p:spPr>
        </p:sp>
        <p:sp>
          <p:nvSpPr>
            <p:cNvPr id="6" name="TextBox 6"/>
            <p:cNvSpPr txBox="1"/>
            <p:nvPr/>
          </p:nvSpPr>
          <p:spPr>
            <a:xfrm>
              <a:off x="0" y="-38100"/>
              <a:ext cx="38072" cy="89232"/>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rot="0">
            <a:off x="7910607" y="5132806"/>
            <a:ext cx="167701" cy="225229"/>
            <a:chOff x="0" y="0"/>
            <a:chExt cx="38072" cy="51132"/>
          </a:xfrm>
        </p:grpSpPr>
        <p:sp>
          <p:nvSpPr>
            <p:cNvPr id="8" name="Freeform 8"/>
            <p:cNvSpPr/>
            <p:nvPr/>
          </p:nvSpPr>
          <p:spPr>
            <a:xfrm>
              <a:off x="0" y="0"/>
              <a:ext cx="38072" cy="51132"/>
            </a:xfrm>
            <a:custGeom>
              <a:avLst/>
              <a:gdLst/>
              <a:ahLst/>
              <a:cxnLst/>
              <a:rect l="l" t="t" r="r" b="b"/>
              <a:pathLst>
                <a:path w="38072" h="51132">
                  <a:moveTo>
                    <a:pt x="19036" y="0"/>
                  </a:moveTo>
                  <a:lnTo>
                    <a:pt x="19036" y="0"/>
                  </a:lnTo>
                  <a:cubicBezTo>
                    <a:pt x="29549" y="0"/>
                    <a:pt x="38072" y="8523"/>
                    <a:pt x="38072" y="19036"/>
                  </a:cubicBezTo>
                  <a:lnTo>
                    <a:pt x="38072" y="32096"/>
                  </a:lnTo>
                  <a:cubicBezTo>
                    <a:pt x="38072" y="37145"/>
                    <a:pt x="36067" y="41987"/>
                    <a:pt x="32497" y="45557"/>
                  </a:cubicBezTo>
                  <a:cubicBezTo>
                    <a:pt x="28927" y="49127"/>
                    <a:pt x="24085" y="51132"/>
                    <a:pt x="19036" y="51132"/>
                  </a:cubicBezTo>
                  <a:lnTo>
                    <a:pt x="19036" y="51132"/>
                  </a:lnTo>
                  <a:cubicBezTo>
                    <a:pt x="8523" y="51132"/>
                    <a:pt x="0" y="42610"/>
                    <a:pt x="0" y="32096"/>
                  </a:cubicBezTo>
                  <a:lnTo>
                    <a:pt x="0" y="19036"/>
                  </a:lnTo>
                  <a:cubicBezTo>
                    <a:pt x="0" y="13987"/>
                    <a:pt x="2006" y="9145"/>
                    <a:pt x="5576" y="5576"/>
                  </a:cubicBezTo>
                  <a:cubicBezTo>
                    <a:pt x="9145" y="2006"/>
                    <a:pt x="13987" y="0"/>
                    <a:pt x="19036" y="0"/>
                  </a:cubicBezTo>
                  <a:close/>
                </a:path>
              </a:pathLst>
            </a:custGeom>
            <a:solidFill>
              <a:srgbClr val="000000"/>
            </a:solidFill>
          </p:spPr>
        </p:sp>
        <p:sp>
          <p:nvSpPr>
            <p:cNvPr id="9" name="TextBox 9"/>
            <p:cNvSpPr txBox="1"/>
            <p:nvPr/>
          </p:nvSpPr>
          <p:spPr>
            <a:xfrm>
              <a:off x="0" y="-38100"/>
              <a:ext cx="38072" cy="89232"/>
            </a:xfrm>
            <a:prstGeom prst="rect">
              <a:avLst/>
            </a:prstGeom>
          </p:spPr>
          <p:txBody>
            <a:bodyPr lIns="50800" tIns="50800" rIns="50800" bIns="50800" rtlCol="0" anchor="ctr"/>
            <a:lstStyle/>
            <a:p>
              <a:pPr algn="ctr">
                <a:lnSpc>
                  <a:spcPts val="2660"/>
                </a:lnSpc>
              </a:pPr>
            </a:p>
          </p:txBody>
        </p:sp>
      </p:grpSp>
      <p:grpSp>
        <p:nvGrpSpPr>
          <p:cNvPr id="10" name="Group 10"/>
          <p:cNvGrpSpPr/>
          <p:nvPr/>
        </p:nvGrpSpPr>
        <p:grpSpPr>
          <a:xfrm rot="0">
            <a:off x="7910607" y="7287686"/>
            <a:ext cx="167701" cy="225229"/>
            <a:chOff x="0" y="0"/>
            <a:chExt cx="38072" cy="51132"/>
          </a:xfrm>
        </p:grpSpPr>
        <p:sp>
          <p:nvSpPr>
            <p:cNvPr id="11" name="Freeform 11"/>
            <p:cNvSpPr/>
            <p:nvPr/>
          </p:nvSpPr>
          <p:spPr>
            <a:xfrm>
              <a:off x="0" y="0"/>
              <a:ext cx="38072" cy="51132"/>
            </a:xfrm>
            <a:custGeom>
              <a:avLst/>
              <a:gdLst/>
              <a:ahLst/>
              <a:cxnLst/>
              <a:rect l="l" t="t" r="r" b="b"/>
              <a:pathLst>
                <a:path w="38072" h="51132">
                  <a:moveTo>
                    <a:pt x="19036" y="0"/>
                  </a:moveTo>
                  <a:lnTo>
                    <a:pt x="19036" y="0"/>
                  </a:lnTo>
                  <a:cubicBezTo>
                    <a:pt x="29549" y="0"/>
                    <a:pt x="38072" y="8523"/>
                    <a:pt x="38072" y="19036"/>
                  </a:cubicBezTo>
                  <a:lnTo>
                    <a:pt x="38072" y="32096"/>
                  </a:lnTo>
                  <a:cubicBezTo>
                    <a:pt x="38072" y="37145"/>
                    <a:pt x="36067" y="41987"/>
                    <a:pt x="32497" y="45557"/>
                  </a:cubicBezTo>
                  <a:cubicBezTo>
                    <a:pt x="28927" y="49127"/>
                    <a:pt x="24085" y="51132"/>
                    <a:pt x="19036" y="51132"/>
                  </a:cubicBezTo>
                  <a:lnTo>
                    <a:pt x="19036" y="51132"/>
                  </a:lnTo>
                  <a:cubicBezTo>
                    <a:pt x="8523" y="51132"/>
                    <a:pt x="0" y="42610"/>
                    <a:pt x="0" y="32096"/>
                  </a:cubicBezTo>
                  <a:lnTo>
                    <a:pt x="0" y="19036"/>
                  </a:lnTo>
                  <a:cubicBezTo>
                    <a:pt x="0" y="13987"/>
                    <a:pt x="2006" y="9145"/>
                    <a:pt x="5576" y="5576"/>
                  </a:cubicBezTo>
                  <a:cubicBezTo>
                    <a:pt x="9145" y="2006"/>
                    <a:pt x="13987" y="0"/>
                    <a:pt x="19036" y="0"/>
                  </a:cubicBezTo>
                  <a:close/>
                </a:path>
              </a:pathLst>
            </a:custGeom>
            <a:solidFill>
              <a:srgbClr val="000000"/>
            </a:solidFill>
          </p:spPr>
        </p:sp>
        <p:sp>
          <p:nvSpPr>
            <p:cNvPr id="12" name="TextBox 12"/>
            <p:cNvSpPr txBox="1"/>
            <p:nvPr/>
          </p:nvSpPr>
          <p:spPr>
            <a:xfrm>
              <a:off x="0" y="-38100"/>
              <a:ext cx="38072" cy="89232"/>
            </a:xfrm>
            <a:prstGeom prst="rect">
              <a:avLst/>
            </a:prstGeom>
          </p:spPr>
          <p:txBody>
            <a:bodyPr lIns="50800" tIns="50800" rIns="50800" bIns="50800" rtlCol="0" anchor="ctr"/>
            <a:lstStyle/>
            <a:p>
              <a:pPr algn="ctr">
                <a:lnSpc>
                  <a:spcPts val="2660"/>
                </a:lnSpc>
              </a:pPr>
            </a:p>
          </p:txBody>
        </p:sp>
      </p:grpSp>
      <p:sp>
        <p:nvSpPr>
          <p:cNvPr id="13" name="Freeform 13"/>
          <p:cNvSpPr/>
          <p:nvPr/>
        </p:nvSpPr>
        <p:spPr>
          <a:xfrm>
            <a:off x="1989993" y="373377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4" name="TextBox 14"/>
          <p:cNvSpPr txBox="1"/>
          <p:nvPr/>
        </p:nvSpPr>
        <p:spPr>
          <a:xfrm>
            <a:off x="8358787" y="1583077"/>
            <a:ext cx="7120533" cy="828675"/>
          </a:xfrm>
          <a:prstGeom prst="rect">
            <a:avLst/>
          </a:prstGeom>
        </p:spPr>
        <p:txBody>
          <a:bodyPr lIns="0" tIns="0" rIns="0" bIns="0" rtlCol="0" anchor="t">
            <a:spAutoFit/>
          </a:bodyPr>
          <a:lstStyle/>
          <a:p>
            <a:pPr algn="l">
              <a:lnSpc>
                <a:spcPts val="6600"/>
              </a:lnSpc>
            </a:pPr>
            <a:r>
              <a:rPr lang="en-US" sz="5500">
                <a:solidFill>
                  <a:srgbClr val="333333"/>
                </a:solidFill>
                <a:latin typeface="Lexend Deca"/>
                <a:ea typeface="Lexend Deca"/>
                <a:cs typeface="Lexend Deca"/>
                <a:sym typeface="Lexend Deca"/>
              </a:rPr>
              <a:t>Objectives</a:t>
            </a:r>
            <a:endParaRPr lang="en-US" sz="5500">
              <a:solidFill>
                <a:srgbClr val="333333"/>
              </a:solidFill>
              <a:latin typeface="Lexend Deca"/>
              <a:ea typeface="Lexend Deca"/>
              <a:cs typeface="Lexend Deca"/>
              <a:sym typeface="Lexend Deca"/>
            </a:endParaRPr>
          </a:p>
        </p:txBody>
      </p:sp>
      <p:sp>
        <p:nvSpPr>
          <p:cNvPr id="15" name="TextBox 15"/>
          <p:cNvSpPr txBox="1"/>
          <p:nvPr/>
        </p:nvSpPr>
        <p:spPr>
          <a:xfrm>
            <a:off x="8358787" y="2830852"/>
            <a:ext cx="8234034" cy="1748869"/>
          </a:xfrm>
          <a:prstGeom prst="rect">
            <a:avLst/>
          </a:prstGeom>
        </p:spPr>
        <p:txBody>
          <a:bodyPr lIns="0" tIns="0" rIns="0" bIns="0" rtlCol="0" anchor="t">
            <a:spAutoFit/>
          </a:bodyPr>
          <a:lstStyle/>
          <a:p>
            <a:pPr algn="l">
              <a:lnSpc>
                <a:spcPts val="4645"/>
              </a:lnSpc>
              <a:spcBef>
                <a:spcPct val="0"/>
              </a:spcBef>
            </a:pPr>
            <a:r>
              <a:rPr lang="en-US" sz="3320" b="1" spc="-152">
                <a:solidFill>
                  <a:srgbClr val="000000"/>
                </a:solidFill>
                <a:latin typeface="Raleway Medium"/>
                <a:ea typeface="Raleway Medium"/>
                <a:cs typeface="Raleway Medium"/>
                <a:sym typeface="Raleway Medium"/>
              </a:rPr>
              <a:t>To collect and </a:t>
            </a:r>
            <a:r>
              <a:rPr lang="en-US" sz="3320" b="1" spc="-152">
                <a:solidFill>
                  <a:srgbClr val="000000"/>
                </a:solidFill>
                <a:latin typeface="Raleway Medium"/>
                <a:ea typeface="Raleway Medium"/>
                <a:cs typeface="Raleway Medium"/>
                <a:sym typeface="Raleway Medium"/>
              </a:rPr>
              <a:t>organize students’ academic performance data including GPA, attendance rate, study hours, and course load.</a:t>
            </a:r>
            <a:endParaRPr lang="en-US" sz="3320" b="1" spc="-152">
              <a:solidFill>
                <a:srgbClr val="000000"/>
              </a:solidFill>
              <a:latin typeface="Raleway Medium"/>
              <a:ea typeface="Raleway Medium"/>
              <a:cs typeface="Raleway Medium"/>
              <a:sym typeface="Raleway Medium"/>
            </a:endParaRPr>
          </a:p>
        </p:txBody>
      </p:sp>
      <p:sp>
        <p:nvSpPr>
          <p:cNvPr id="16" name="TextBox 16"/>
          <p:cNvSpPr txBox="1"/>
          <p:nvPr/>
        </p:nvSpPr>
        <p:spPr>
          <a:xfrm>
            <a:off x="8358787" y="4878639"/>
            <a:ext cx="8234034" cy="1748869"/>
          </a:xfrm>
          <a:prstGeom prst="rect">
            <a:avLst/>
          </a:prstGeom>
        </p:spPr>
        <p:txBody>
          <a:bodyPr lIns="0" tIns="0" rIns="0" bIns="0" rtlCol="0" anchor="t">
            <a:spAutoFit/>
          </a:bodyPr>
          <a:lstStyle/>
          <a:p>
            <a:pPr algn="l">
              <a:lnSpc>
                <a:spcPts val="4645"/>
              </a:lnSpc>
              <a:spcBef>
                <a:spcPct val="0"/>
              </a:spcBef>
            </a:pPr>
            <a:r>
              <a:rPr lang="en-US" sz="3320" b="1" spc="-152">
                <a:solidFill>
                  <a:srgbClr val="000000"/>
                </a:solidFill>
                <a:latin typeface="Raleway Medium"/>
                <a:ea typeface="Raleway Medium"/>
                <a:cs typeface="Raleway Medium"/>
                <a:sym typeface="Raleway Medium"/>
              </a:rPr>
              <a:t>Analyse patterns i</a:t>
            </a:r>
            <a:r>
              <a:rPr lang="en-US" sz="3320" b="1" spc="-152">
                <a:solidFill>
                  <a:srgbClr val="000000"/>
                </a:solidFill>
                <a:latin typeface="Raleway Medium"/>
                <a:ea typeface="Raleway Medium"/>
                <a:cs typeface="Raleway Medium"/>
                <a:sym typeface="Raleway Medium"/>
              </a:rPr>
              <a:t>n students’ academic performance and identify patterns of improvement or decline.</a:t>
            </a:r>
            <a:endParaRPr lang="en-US" sz="3320" b="1" spc="-152">
              <a:solidFill>
                <a:srgbClr val="000000"/>
              </a:solidFill>
              <a:latin typeface="Raleway Medium"/>
              <a:ea typeface="Raleway Medium"/>
              <a:cs typeface="Raleway Medium"/>
              <a:sym typeface="Raleway Medium"/>
            </a:endParaRPr>
          </a:p>
        </p:txBody>
      </p:sp>
      <p:sp>
        <p:nvSpPr>
          <p:cNvPr id="17" name="TextBox 17"/>
          <p:cNvSpPr txBox="1"/>
          <p:nvPr/>
        </p:nvSpPr>
        <p:spPr>
          <a:xfrm>
            <a:off x="8358787" y="7043757"/>
            <a:ext cx="8234034" cy="2334527"/>
          </a:xfrm>
          <a:prstGeom prst="rect">
            <a:avLst/>
          </a:prstGeom>
        </p:spPr>
        <p:txBody>
          <a:bodyPr lIns="0" tIns="0" rIns="0" bIns="0" rtlCol="0" anchor="t">
            <a:spAutoFit/>
          </a:bodyPr>
          <a:lstStyle/>
          <a:p>
            <a:pPr algn="l">
              <a:lnSpc>
                <a:spcPts val="4645"/>
              </a:lnSpc>
              <a:spcBef>
                <a:spcPct val="0"/>
              </a:spcBef>
            </a:pPr>
            <a:r>
              <a:rPr lang="en-US" sz="3320" b="1" spc="-152">
                <a:solidFill>
                  <a:srgbClr val="000000"/>
                </a:solidFill>
                <a:latin typeface="Raleway Medium"/>
                <a:ea typeface="Raleway Medium"/>
                <a:cs typeface="Raleway Medium"/>
                <a:sym typeface="Raleway Medium"/>
              </a:rPr>
              <a:t>Develop an applied mathematical and statistical model that explai</a:t>
            </a:r>
            <a:r>
              <a:rPr lang="en-US" sz="3320" b="1" spc="-152">
                <a:solidFill>
                  <a:srgbClr val="000000"/>
                </a:solidFill>
                <a:latin typeface="Raleway Medium"/>
                <a:ea typeface="Raleway Medium"/>
                <a:cs typeface="Raleway Medium"/>
                <a:sym typeface="Raleway Medium"/>
              </a:rPr>
              <a:t>ns the relationship between academic performance and its influencing factors.</a:t>
            </a:r>
            <a:endParaRPr lang="en-US" sz="3320" b="1" spc="-152">
              <a:solidFill>
                <a:srgbClr val="000000"/>
              </a:solidFill>
              <a:latin typeface="Raleway Medium"/>
              <a:ea typeface="Raleway Medium"/>
              <a:cs typeface="Raleway Medium"/>
              <a:sym typeface="Raleway Medium"/>
            </a:endParaRPr>
          </a:p>
        </p:txBody>
      </p:sp>
      <p:sp>
        <p:nvSpPr>
          <p:cNvPr id="18" name="AutoShape 18"/>
          <p:cNvSpPr/>
          <p:nvPr/>
        </p:nvSpPr>
        <p:spPr>
          <a:xfrm>
            <a:off x="1028700" y="1268392"/>
            <a:ext cx="16230600" cy="0"/>
          </a:xfrm>
          <a:prstGeom prst="line">
            <a:avLst/>
          </a:prstGeom>
          <a:ln w="28575" cap="flat">
            <a:solidFill>
              <a:srgbClr val="333333"/>
            </a:soli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extBox 2"/>
          <p:cNvSpPr txBox="1"/>
          <p:nvPr/>
        </p:nvSpPr>
        <p:spPr>
          <a:xfrm>
            <a:off x="9691836" y="639980"/>
            <a:ext cx="7567464" cy="1155776"/>
          </a:xfrm>
          <a:prstGeom prst="rect">
            <a:avLst/>
          </a:prstGeom>
        </p:spPr>
        <p:txBody>
          <a:bodyPr lIns="0" tIns="0" rIns="0" bIns="0" rtlCol="0" anchor="t">
            <a:spAutoFit/>
          </a:bodyPr>
          <a:lstStyle/>
          <a:p>
            <a:pPr marL="0" lvl="1" indent="0" algn="l">
              <a:lnSpc>
                <a:spcPts val="8390"/>
              </a:lnSpc>
            </a:pPr>
            <a:r>
              <a:rPr lang="en-US" sz="9325" b="1" spc="-428">
                <a:solidFill>
                  <a:srgbClr val="000000"/>
                </a:solidFill>
                <a:latin typeface="Raleway Medium"/>
                <a:ea typeface="Raleway Medium"/>
                <a:cs typeface="Raleway Medium"/>
                <a:sym typeface="Raleway Medium"/>
              </a:rPr>
              <a:t>Limitations</a:t>
            </a:r>
            <a:endParaRPr lang="en-US" sz="9325" b="1" spc="-428">
              <a:solidFill>
                <a:srgbClr val="000000"/>
              </a:solidFill>
              <a:latin typeface="Raleway Medium"/>
              <a:ea typeface="Raleway Medium"/>
              <a:cs typeface="Raleway Medium"/>
              <a:sym typeface="Raleway Medium"/>
            </a:endParaRPr>
          </a:p>
        </p:txBody>
      </p:sp>
      <p:grpSp>
        <p:nvGrpSpPr>
          <p:cNvPr id="3" name="Group 3"/>
          <p:cNvGrpSpPr/>
          <p:nvPr/>
        </p:nvGrpSpPr>
        <p:grpSpPr>
          <a:xfrm rot="0">
            <a:off x="9021345" y="2174275"/>
            <a:ext cx="213038" cy="21303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3565"/>
                </a:lnSpc>
              </a:pPr>
            </a:p>
          </p:txBody>
        </p:sp>
      </p:grpSp>
      <p:sp>
        <p:nvSpPr>
          <p:cNvPr id="6" name="TextBox 6"/>
          <p:cNvSpPr txBox="1"/>
          <p:nvPr/>
        </p:nvSpPr>
        <p:spPr>
          <a:xfrm>
            <a:off x="9471887" y="1961974"/>
            <a:ext cx="7440522" cy="1895512"/>
          </a:xfrm>
          <a:prstGeom prst="rect">
            <a:avLst/>
          </a:prstGeom>
        </p:spPr>
        <p:txBody>
          <a:bodyPr lIns="0" tIns="0" rIns="0" bIns="0" rtlCol="0" anchor="t">
            <a:spAutoFit/>
          </a:bodyPr>
          <a:lstStyle/>
          <a:p>
            <a:pPr algn="just">
              <a:lnSpc>
                <a:spcPts val="3765"/>
              </a:lnSpc>
              <a:spcBef>
                <a:spcPct val="0"/>
              </a:spcBef>
            </a:pPr>
            <a:r>
              <a:rPr lang="en-US" sz="2690" b="1">
                <a:solidFill>
                  <a:srgbClr val="000000"/>
                </a:solidFill>
                <a:latin typeface="Gotham Bold"/>
                <a:ea typeface="Gotham Bold"/>
                <a:cs typeface="Gotham Bold"/>
                <a:sym typeface="Gotham Bold"/>
              </a:rPr>
              <a:t>Some variables (such as study h</a:t>
            </a:r>
            <a:r>
              <a:rPr lang="en-US" sz="2690" b="1">
                <a:solidFill>
                  <a:srgbClr val="000000"/>
                </a:solidFill>
                <a:latin typeface="Gotham Bold"/>
                <a:ea typeface="Gotham Bold"/>
                <a:cs typeface="Gotham Bold"/>
                <a:sym typeface="Gotham Bold"/>
              </a:rPr>
              <a:t>ours </a:t>
            </a:r>
            <a:endParaRPr lang="en-US" sz="2690" b="1">
              <a:solidFill>
                <a:srgbClr val="000000"/>
              </a:solidFill>
              <a:latin typeface="Gotham Bold"/>
              <a:ea typeface="Gotham Bold"/>
              <a:cs typeface="Gotham Bold"/>
              <a:sym typeface="Gotham Bold"/>
            </a:endParaRPr>
          </a:p>
          <a:p>
            <a:pPr algn="l">
              <a:lnSpc>
                <a:spcPts val="3765"/>
              </a:lnSpc>
              <a:spcBef>
                <a:spcPct val="0"/>
              </a:spcBef>
            </a:pPr>
            <a:r>
              <a:rPr lang="en-US" sz="2690" b="1">
                <a:solidFill>
                  <a:srgbClr val="000000"/>
                </a:solidFill>
                <a:latin typeface="Gotham Bold"/>
                <a:ea typeface="Gotham Bold"/>
                <a:cs typeface="Gotham Bold"/>
                <a:sym typeface="Gotham Bold"/>
              </a:rPr>
              <a:t>and attendance) may be estimated or self-reported,which can introduce bias or measurement </a:t>
            </a:r>
            <a:r>
              <a:rPr lang="en-US" sz="2690" b="1">
                <a:solidFill>
                  <a:srgbClr val="000000"/>
                </a:solidFill>
                <a:latin typeface="Gotham Bold"/>
                <a:ea typeface="Gotham Bold"/>
                <a:cs typeface="Gotham Bold"/>
                <a:sym typeface="Gotham Bold"/>
              </a:rPr>
              <a:t>errors.</a:t>
            </a:r>
            <a:endParaRPr lang="en-US" sz="2690" b="1">
              <a:solidFill>
                <a:srgbClr val="000000"/>
              </a:solidFill>
              <a:latin typeface="Gotham Bold"/>
              <a:ea typeface="Gotham Bold"/>
              <a:cs typeface="Gotham Bold"/>
              <a:sym typeface="Gotham Bold"/>
            </a:endParaRPr>
          </a:p>
        </p:txBody>
      </p:sp>
      <p:grpSp>
        <p:nvGrpSpPr>
          <p:cNvPr id="7" name="Group 7"/>
          <p:cNvGrpSpPr/>
          <p:nvPr/>
        </p:nvGrpSpPr>
        <p:grpSpPr>
          <a:xfrm rot="0">
            <a:off x="9021345" y="4209969"/>
            <a:ext cx="213038" cy="21303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p:cNvSpPr txBox="1"/>
            <p:nvPr/>
          </p:nvSpPr>
          <p:spPr>
            <a:xfrm>
              <a:off x="76200" y="9525"/>
              <a:ext cx="660400" cy="727075"/>
            </a:xfrm>
            <a:prstGeom prst="rect">
              <a:avLst/>
            </a:prstGeom>
          </p:spPr>
          <p:txBody>
            <a:bodyPr lIns="50800" tIns="50800" rIns="50800" bIns="50800" rtlCol="0" anchor="ctr"/>
            <a:lstStyle/>
            <a:p>
              <a:pPr algn="ctr">
                <a:lnSpc>
                  <a:spcPts val="3565"/>
                </a:lnSpc>
              </a:pPr>
            </a:p>
          </p:txBody>
        </p:sp>
      </p:grpSp>
      <p:sp>
        <p:nvSpPr>
          <p:cNvPr id="10" name="TextBox 10"/>
          <p:cNvSpPr txBox="1"/>
          <p:nvPr/>
        </p:nvSpPr>
        <p:spPr>
          <a:xfrm>
            <a:off x="9430462" y="4024419"/>
            <a:ext cx="7440522" cy="1895512"/>
          </a:xfrm>
          <a:prstGeom prst="rect">
            <a:avLst/>
          </a:prstGeom>
        </p:spPr>
        <p:txBody>
          <a:bodyPr lIns="0" tIns="0" rIns="0" bIns="0" rtlCol="0" anchor="t">
            <a:spAutoFit/>
          </a:bodyPr>
          <a:lstStyle/>
          <a:p>
            <a:pPr algn="l">
              <a:lnSpc>
                <a:spcPts val="3765"/>
              </a:lnSpc>
              <a:spcBef>
                <a:spcPct val="0"/>
              </a:spcBef>
            </a:pPr>
            <a:r>
              <a:rPr lang="en-US" sz="2690" b="1">
                <a:solidFill>
                  <a:srgbClr val="000000"/>
                </a:solidFill>
                <a:latin typeface="Gotham Bold"/>
                <a:ea typeface="Gotham Bold"/>
                <a:cs typeface="Gotham Bold"/>
                <a:sym typeface="Gotham Bold"/>
              </a:rPr>
              <a:t>The regression models assume linea</a:t>
            </a:r>
            <a:r>
              <a:rPr lang="en-US" sz="2690" b="1">
                <a:solidFill>
                  <a:srgbClr val="000000"/>
                </a:solidFill>
                <a:latin typeface="Gotham Bold"/>
                <a:ea typeface="Gotham Bold"/>
                <a:cs typeface="Gotham Bold"/>
                <a:sym typeface="Gotham Bold"/>
              </a:rPr>
              <a:t>r rel</a:t>
            </a:r>
            <a:r>
              <a:rPr lang="en-US" sz="2690" b="1">
                <a:solidFill>
                  <a:srgbClr val="000000"/>
                </a:solidFill>
                <a:latin typeface="Gotham Bold"/>
                <a:ea typeface="Gotham Bold"/>
                <a:cs typeface="Gotham Bold"/>
                <a:sym typeface="Gotham Bold"/>
              </a:rPr>
              <a:t>ationships between variables, whereas real academic performance may involve nonlinear or complex int</a:t>
            </a:r>
            <a:r>
              <a:rPr lang="en-US" sz="2690" b="1">
                <a:solidFill>
                  <a:srgbClr val="000000"/>
                </a:solidFill>
                <a:latin typeface="Gotham Bold"/>
                <a:ea typeface="Gotham Bold"/>
                <a:cs typeface="Gotham Bold"/>
                <a:sym typeface="Gotham Bold"/>
              </a:rPr>
              <a:t>eractions.</a:t>
            </a:r>
            <a:endParaRPr lang="en-US" sz="2690" b="1">
              <a:solidFill>
                <a:srgbClr val="000000"/>
              </a:solidFill>
              <a:latin typeface="Gotham Bold"/>
              <a:ea typeface="Gotham Bold"/>
              <a:cs typeface="Gotham Bold"/>
              <a:sym typeface="Gotham Bold"/>
            </a:endParaRPr>
          </a:p>
        </p:txBody>
      </p:sp>
      <p:sp>
        <p:nvSpPr>
          <p:cNvPr id="11" name="TextBox 11"/>
          <p:cNvSpPr txBox="1"/>
          <p:nvPr/>
        </p:nvSpPr>
        <p:spPr>
          <a:xfrm>
            <a:off x="9471887" y="6142177"/>
            <a:ext cx="7440522" cy="1418839"/>
          </a:xfrm>
          <a:prstGeom prst="rect">
            <a:avLst/>
          </a:prstGeom>
        </p:spPr>
        <p:txBody>
          <a:bodyPr lIns="0" tIns="0" rIns="0" bIns="0" rtlCol="0" anchor="t">
            <a:spAutoFit/>
          </a:bodyPr>
          <a:lstStyle/>
          <a:p>
            <a:pPr algn="l">
              <a:lnSpc>
                <a:spcPts val="3765"/>
              </a:lnSpc>
              <a:spcBef>
                <a:spcPct val="0"/>
              </a:spcBef>
            </a:pPr>
            <a:r>
              <a:rPr lang="en-US" sz="2690" b="1">
                <a:solidFill>
                  <a:srgbClr val="000000"/>
                </a:solidFill>
                <a:latin typeface="Gotham Bold"/>
                <a:ea typeface="Gotham Bold"/>
                <a:cs typeface="Gotham Bold"/>
                <a:sym typeface="Gotham Bold"/>
              </a:rPr>
              <a:t>Limited generalizabi</a:t>
            </a:r>
            <a:r>
              <a:rPr lang="en-US" sz="2690" b="1">
                <a:solidFill>
                  <a:srgbClr val="000000"/>
                </a:solidFill>
                <a:latin typeface="Gotham Bold"/>
                <a:ea typeface="Gotham Bold"/>
                <a:cs typeface="Gotham Bold"/>
                <a:sym typeface="Gotham Bold"/>
              </a:rPr>
              <a:t>li</a:t>
            </a:r>
            <a:r>
              <a:rPr lang="en-US" sz="2690" b="1">
                <a:solidFill>
                  <a:srgbClr val="000000"/>
                </a:solidFill>
                <a:latin typeface="Gotham Bold"/>
                <a:ea typeface="Gotham Bold"/>
                <a:cs typeface="Gotham Bold"/>
                <a:sym typeface="Gotham Bold"/>
              </a:rPr>
              <a:t>ty, since the study is based on data from a specific department or institu</a:t>
            </a:r>
            <a:r>
              <a:rPr lang="en-US" sz="2690" b="1">
                <a:solidFill>
                  <a:srgbClr val="000000"/>
                </a:solidFill>
                <a:latin typeface="Gotham Bold"/>
                <a:ea typeface="Gotham Bold"/>
                <a:cs typeface="Gotham Bold"/>
                <a:sym typeface="Gotham Bold"/>
              </a:rPr>
              <a:t>tion.</a:t>
            </a:r>
            <a:endParaRPr lang="en-US" sz="2690" b="1">
              <a:solidFill>
                <a:srgbClr val="000000"/>
              </a:solidFill>
              <a:latin typeface="Gotham Bold"/>
              <a:ea typeface="Gotham Bold"/>
              <a:cs typeface="Gotham Bold"/>
              <a:sym typeface="Gotham Bold"/>
            </a:endParaRPr>
          </a:p>
        </p:txBody>
      </p:sp>
      <p:sp>
        <p:nvSpPr>
          <p:cNvPr id="12" name="TextBox 12"/>
          <p:cNvSpPr txBox="1"/>
          <p:nvPr/>
        </p:nvSpPr>
        <p:spPr>
          <a:xfrm>
            <a:off x="9471887" y="7643564"/>
            <a:ext cx="7440522" cy="1418839"/>
          </a:xfrm>
          <a:prstGeom prst="rect">
            <a:avLst/>
          </a:prstGeom>
        </p:spPr>
        <p:txBody>
          <a:bodyPr lIns="0" tIns="0" rIns="0" bIns="0" rtlCol="0" anchor="t">
            <a:spAutoFit/>
          </a:bodyPr>
          <a:lstStyle/>
          <a:p>
            <a:pPr algn="l">
              <a:lnSpc>
                <a:spcPts val="3765"/>
              </a:lnSpc>
              <a:spcBef>
                <a:spcPct val="0"/>
              </a:spcBef>
            </a:pPr>
            <a:r>
              <a:rPr lang="en-US" sz="2690" b="1">
                <a:solidFill>
                  <a:srgbClr val="000000"/>
                </a:solidFill>
                <a:latin typeface="Gotham Bold"/>
                <a:ea typeface="Gotham Bold"/>
                <a:cs typeface="Gotham Bold"/>
                <a:sym typeface="Gotham Bold"/>
              </a:rPr>
              <a:t>Restricted set of variab</a:t>
            </a:r>
            <a:r>
              <a:rPr lang="en-US" sz="2690" b="1">
                <a:solidFill>
                  <a:srgbClr val="000000"/>
                </a:solidFill>
                <a:latin typeface="Gotham Bold"/>
                <a:ea typeface="Gotham Bold"/>
                <a:cs typeface="Gotham Bold"/>
                <a:sym typeface="Gotham Bold"/>
              </a:rPr>
              <a:t>les</a:t>
            </a:r>
            <a:r>
              <a:rPr lang="en-US" sz="2690" b="1">
                <a:solidFill>
                  <a:srgbClr val="000000"/>
                </a:solidFill>
                <a:latin typeface="Gotham Bold"/>
                <a:ea typeface="Gotham Bold"/>
                <a:cs typeface="Gotham Bold"/>
                <a:sym typeface="Gotham Bold"/>
              </a:rPr>
              <a:t>, as only academic and study-related factors were considered</a:t>
            </a:r>
            <a:r>
              <a:rPr lang="en-US" sz="2690" b="1">
                <a:solidFill>
                  <a:srgbClr val="000000"/>
                </a:solidFill>
                <a:latin typeface="Gotham Bold"/>
                <a:ea typeface="Gotham Bold"/>
                <a:cs typeface="Gotham Bold"/>
                <a:sym typeface="Gotham Bold"/>
              </a:rPr>
              <a:t>.</a:t>
            </a:r>
            <a:endParaRPr lang="en-US" sz="2690" b="1">
              <a:solidFill>
                <a:srgbClr val="000000"/>
              </a:solidFill>
              <a:latin typeface="Gotham Bold"/>
              <a:ea typeface="Gotham Bold"/>
              <a:cs typeface="Gotham Bold"/>
              <a:sym typeface="Gotham Bold"/>
            </a:endParaRPr>
          </a:p>
        </p:txBody>
      </p:sp>
      <p:grpSp>
        <p:nvGrpSpPr>
          <p:cNvPr id="13" name="Group 13"/>
          <p:cNvGrpSpPr/>
          <p:nvPr/>
        </p:nvGrpSpPr>
        <p:grpSpPr>
          <a:xfrm rot="0">
            <a:off x="9021345" y="6346276"/>
            <a:ext cx="213038" cy="21303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5" name="TextBox 15"/>
            <p:cNvSpPr txBox="1"/>
            <p:nvPr/>
          </p:nvSpPr>
          <p:spPr>
            <a:xfrm>
              <a:off x="76200" y="9525"/>
              <a:ext cx="660400" cy="727075"/>
            </a:xfrm>
            <a:prstGeom prst="rect">
              <a:avLst/>
            </a:prstGeom>
          </p:spPr>
          <p:txBody>
            <a:bodyPr lIns="50800" tIns="50800" rIns="50800" bIns="50800" rtlCol="0" anchor="ctr"/>
            <a:lstStyle/>
            <a:p>
              <a:pPr algn="ctr">
                <a:lnSpc>
                  <a:spcPts val="3565"/>
                </a:lnSpc>
              </a:pPr>
            </a:p>
          </p:txBody>
        </p:sp>
      </p:grpSp>
      <p:grpSp>
        <p:nvGrpSpPr>
          <p:cNvPr id="16" name="Group 16"/>
          <p:cNvGrpSpPr/>
          <p:nvPr/>
        </p:nvGrpSpPr>
        <p:grpSpPr>
          <a:xfrm rot="0">
            <a:off x="9021345" y="7834986"/>
            <a:ext cx="213038" cy="21303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8" name="TextBox 18"/>
            <p:cNvSpPr txBox="1"/>
            <p:nvPr/>
          </p:nvSpPr>
          <p:spPr>
            <a:xfrm>
              <a:off x="76200" y="9525"/>
              <a:ext cx="660400" cy="727075"/>
            </a:xfrm>
            <a:prstGeom prst="rect">
              <a:avLst/>
            </a:prstGeom>
          </p:spPr>
          <p:txBody>
            <a:bodyPr lIns="50800" tIns="50800" rIns="50800" bIns="50800" rtlCol="0" anchor="ctr"/>
            <a:lstStyle/>
            <a:p>
              <a:pPr algn="ctr">
                <a:lnSpc>
                  <a:spcPts val="3565"/>
                </a:lnSpc>
              </a:pPr>
            </a:p>
          </p:txBody>
        </p:sp>
      </p:grpSp>
      <p:sp>
        <p:nvSpPr>
          <p:cNvPr id="19" name="TextBox 19"/>
          <p:cNvSpPr txBox="1"/>
          <p:nvPr/>
        </p:nvSpPr>
        <p:spPr>
          <a:xfrm>
            <a:off x="2206369" y="653035"/>
            <a:ext cx="3700597" cy="1110616"/>
          </a:xfrm>
          <a:prstGeom prst="rect">
            <a:avLst/>
          </a:prstGeom>
        </p:spPr>
        <p:txBody>
          <a:bodyPr lIns="0" tIns="0" rIns="0" bIns="0" rtlCol="0" anchor="t">
            <a:spAutoFit/>
          </a:bodyPr>
          <a:lstStyle/>
          <a:p>
            <a:pPr marL="0" lvl="1" indent="0" algn="l">
              <a:lnSpc>
                <a:spcPts val="8010"/>
              </a:lnSpc>
            </a:pPr>
            <a:r>
              <a:rPr lang="en-US" sz="8900" b="1" spc="-409">
                <a:solidFill>
                  <a:srgbClr val="000000"/>
                </a:solidFill>
                <a:latin typeface="Raleway Medium"/>
                <a:ea typeface="Raleway Medium"/>
                <a:cs typeface="Raleway Medium"/>
                <a:sym typeface="Raleway Medium"/>
              </a:rPr>
              <a:t>Scope</a:t>
            </a:r>
            <a:endParaRPr lang="en-US" sz="8900" b="1" spc="-409">
              <a:solidFill>
                <a:srgbClr val="000000"/>
              </a:solidFill>
              <a:latin typeface="Raleway Medium"/>
              <a:ea typeface="Raleway Medium"/>
              <a:cs typeface="Raleway Medium"/>
              <a:sym typeface="Raleway Medium"/>
            </a:endParaRPr>
          </a:p>
        </p:txBody>
      </p:sp>
      <p:sp>
        <p:nvSpPr>
          <p:cNvPr id="20" name="TextBox 20"/>
          <p:cNvSpPr txBox="1"/>
          <p:nvPr/>
        </p:nvSpPr>
        <p:spPr>
          <a:xfrm>
            <a:off x="813074" y="2117125"/>
            <a:ext cx="7440522" cy="1895512"/>
          </a:xfrm>
          <a:prstGeom prst="rect">
            <a:avLst/>
          </a:prstGeom>
        </p:spPr>
        <p:txBody>
          <a:bodyPr lIns="0" tIns="0" rIns="0" bIns="0" rtlCol="0" anchor="t">
            <a:spAutoFit/>
          </a:bodyPr>
          <a:lstStyle/>
          <a:p>
            <a:pPr marL="581025" lvl="1" indent="-290195" algn="just">
              <a:lnSpc>
                <a:spcPts val="3765"/>
              </a:lnSpc>
              <a:buFont typeface="Arial" panose="020B0604020202020204"/>
              <a:buChar char="•"/>
            </a:pPr>
            <a:r>
              <a:rPr lang="en-US" sz="2690" b="1">
                <a:solidFill>
                  <a:srgbClr val="000000"/>
                </a:solidFill>
                <a:latin typeface="Gotham Bold"/>
                <a:ea typeface="Gotham Bold"/>
                <a:cs typeface="Gotham Bold"/>
                <a:sym typeface="Gotham Bold"/>
              </a:rPr>
              <a:t>Focuses </a:t>
            </a:r>
            <a:r>
              <a:rPr lang="en-US" sz="2690" b="1">
                <a:solidFill>
                  <a:srgbClr val="000000"/>
                </a:solidFill>
                <a:latin typeface="Gotham Bold"/>
                <a:ea typeface="Gotham Bold"/>
                <a:cs typeface="Gotham Bold"/>
                <a:sym typeface="Gotham Bold"/>
              </a:rPr>
              <a:t>on modelling and predicting students’ academic performance using GPA data</a:t>
            </a:r>
            <a:endParaRPr lang="en-US" sz="2690" b="1">
              <a:solidFill>
                <a:srgbClr val="000000"/>
              </a:solidFill>
              <a:latin typeface="Gotham Bold"/>
              <a:ea typeface="Gotham Bold"/>
              <a:cs typeface="Gotham Bold"/>
              <a:sym typeface="Gotham Bold"/>
            </a:endParaRPr>
          </a:p>
          <a:p>
            <a:pPr algn="l">
              <a:lnSpc>
                <a:spcPts val="3765"/>
              </a:lnSpc>
              <a:spcBef>
                <a:spcPct val="0"/>
              </a:spcBef>
            </a:pPr>
          </a:p>
        </p:txBody>
      </p:sp>
      <p:sp>
        <p:nvSpPr>
          <p:cNvPr id="21" name="TextBox 21"/>
          <p:cNvSpPr txBox="1"/>
          <p:nvPr/>
        </p:nvSpPr>
        <p:spPr>
          <a:xfrm>
            <a:off x="813074" y="3955487"/>
            <a:ext cx="7440522" cy="3322570"/>
          </a:xfrm>
          <a:prstGeom prst="rect">
            <a:avLst/>
          </a:prstGeom>
        </p:spPr>
        <p:txBody>
          <a:bodyPr lIns="0" tIns="0" rIns="0" bIns="0" rtlCol="0" anchor="t">
            <a:spAutoFit/>
          </a:bodyPr>
          <a:lstStyle/>
          <a:p>
            <a:pPr marL="581025" lvl="1" indent="-290195" algn="l">
              <a:lnSpc>
                <a:spcPts val="3765"/>
              </a:lnSpc>
              <a:buFont typeface="Arial" panose="020B0604020202020204"/>
              <a:buChar char="•"/>
            </a:pPr>
            <a:r>
              <a:rPr lang="en-US" sz="2690" b="1">
                <a:solidFill>
                  <a:srgbClr val="000000"/>
                </a:solidFill>
                <a:latin typeface="Gotham Bold"/>
                <a:ea typeface="Gotham Bold"/>
                <a:cs typeface="Gotham Bold"/>
                <a:sym typeface="Gotham Bold"/>
              </a:rPr>
              <a:t>The study considers quantitave academic variables, including students’ Grade point Average (GPA), previous academic performance, attendance rate, study hours, and no of registered courses</a:t>
            </a:r>
            <a:endParaRPr lang="en-US" sz="2690" b="1">
              <a:solidFill>
                <a:srgbClr val="000000"/>
              </a:solidFill>
              <a:latin typeface="Gotham Bold"/>
              <a:ea typeface="Gotham Bold"/>
              <a:cs typeface="Gotham Bold"/>
              <a:sym typeface="Gotham Bold"/>
            </a:endParaRPr>
          </a:p>
          <a:p>
            <a:pPr algn="l">
              <a:lnSpc>
                <a:spcPts val="3765"/>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205121" y="2667763"/>
            <a:ext cx="16230600" cy="0"/>
          </a:xfrm>
          <a:prstGeom prst="line">
            <a:avLst/>
          </a:prstGeom>
          <a:ln w="28575" cap="flat">
            <a:solidFill>
              <a:srgbClr val="333333"/>
            </a:solidFill>
            <a:prstDash val="solid"/>
            <a:headEnd type="none" w="sm" len="sm"/>
            <a:tailEnd type="none" w="sm" len="sm"/>
          </a:ln>
        </p:spPr>
      </p:sp>
      <p:sp>
        <p:nvSpPr>
          <p:cNvPr id="3" name="AutoShape 3"/>
          <p:cNvSpPr/>
          <p:nvPr/>
        </p:nvSpPr>
        <p:spPr>
          <a:xfrm flipV="1">
            <a:off x="6551384" y="3761006"/>
            <a:ext cx="0" cy="5246672"/>
          </a:xfrm>
          <a:prstGeom prst="line">
            <a:avLst/>
          </a:prstGeom>
          <a:ln w="38100" cap="flat">
            <a:solidFill>
              <a:srgbClr val="00694C"/>
            </a:solidFill>
            <a:prstDash val="solid"/>
            <a:headEnd type="none" w="sm" len="sm"/>
            <a:tailEnd type="none" w="sm" len="sm"/>
          </a:ln>
        </p:spPr>
      </p:sp>
      <p:sp>
        <p:nvSpPr>
          <p:cNvPr id="4" name="AutoShape 4"/>
          <p:cNvSpPr/>
          <p:nvPr/>
        </p:nvSpPr>
        <p:spPr>
          <a:xfrm flipV="1">
            <a:off x="11870697" y="3761006"/>
            <a:ext cx="0" cy="5246672"/>
          </a:xfrm>
          <a:prstGeom prst="line">
            <a:avLst/>
          </a:prstGeom>
          <a:ln w="38100" cap="flat">
            <a:solidFill>
              <a:srgbClr val="00694C"/>
            </a:solidFill>
            <a:prstDash val="solid"/>
            <a:headEnd type="none" w="sm" len="sm"/>
            <a:tailEnd type="none" w="sm" len="sm"/>
          </a:ln>
        </p:spPr>
      </p:sp>
      <p:sp>
        <p:nvSpPr>
          <p:cNvPr id="5" name="Freeform 5"/>
          <p:cNvSpPr/>
          <p:nvPr/>
        </p:nvSpPr>
        <p:spPr>
          <a:xfrm>
            <a:off x="13364873" y="2667763"/>
            <a:ext cx="1944774" cy="1944774"/>
          </a:xfrm>
          <a:custGeom>
            <a:avLst/>
            <a:gdLst/>
            <a:ahLst/>
            <a:cxnLst/>
            <a:rect l="l" t="t" r="r" b="b"/>
            <a:pathLst>
              <a:path w="1944774" h="1944774">
                <a:moveTo>
                  <a:pt x="0" y="0"/>
                </a:moveTo>
                <a:lnTo>
                  <a:pt x="1944774" y="0"/>
                </a:lnTo>
                <a:lnTo>
                  <a:pt x="1944774" y="1944774"/>
                </a:lnTo>
                <a:lnTo>
                  <a:pt x="0" y="1944774"/>
                </a:lnTo>
                <a:lnTo>
                  <a:pt x="0" y="0"/>
                </a:lnTo>
                <a:close/>
              </a:path>
            </a:pathLst>
          </a:custGeom>
          <a:blipFill>
            <a:blip r:embed="rId1"/>
            <a:stretch>
              <a:fillRect/>
            </a:stretch>
          </a:blipFill>
        </p:spPr>
      </p:sp>
      <p:sp>
        <p:nvSpPr>
          <p:cNvPr id="6" name="Freeform 6"/>
          <p:cNvSpPr/>
          <p:nvPr/>
        </p:nvSpPr>
        <p:spPr>
          <a:xfrm>
            <a:off x="3491301" y="3120200"/>
            <a:ext cx="1136034" cy="1113313"/>
          </a:xfrm>
          <a:custGeom>
            <a:avLst/>
            <a:gdLst/>
            <a:ahLst/>
            <a:cxnLst/>
            <a:rect l="l" t="t" r="r" b="b"/>
            <a:pathLst>
              <a:path w="1136034" h="1113313">
                <a:moveTo>
                  <a:pt x="0" y="0"/>
                </a:moveTo>
                <a:lnTo>
                  <a:pt x="1136033" y="0"/>
                </a:lnTo>
                <a:lnTo>
                  <a:pt x="1136033" y="1113313"/>
                </a:lnTo>
                <a:lnTo>
                  <a:pt x="0" y="1113313"/>
                </a:lnTo>
                <a:lnTo>
                  <a:pt x="0" y="0"/>
                </a:lnTo>
                <a:close/>
              </a:path>
            </a:pathLst>
          </a:custGeom>
          <a:blipFill>
            <a:blip r:embed="rId2"/>
            <a:stretch>
              <a:fillRect/>
            </a:stretch>
          </a:blipFill>
        </p:spPr>
      </p:sp>
      <p:sp>
        <p:nvSpPr>
          <p:cNvPr id="7" name="Freeform 7"/>
          <p:cNvSpPr/>
          <p:nvPr/>
        </p:nvSpPr>
        <p:spPr>
          <a:xfrm>
            <a:off x="8422560" y="3010813"/>
            <a:ext cx="1082322" cy="1332088"/>
          </a:xfrm>
          <a:custGeom>
            <a:avLst/>
            <a:gdLst/>
            <a:ahLst/>
            <a:cxnLst/>
            <a:rect l="l" t="t" r="r" b="b"/>
            <a:pathLst>
              <a:path w="1082322" h="1332088">
                <a:moveTo>
                  <a:pt x="0" y="0"/>
                </a:moveTo>
                <a:lnTo>
                  <a:pt x="1082322" y="0"/>
                </a:lnTo>
                <a:lnTo>
                  <a:pt x="1082322" y="1332088"/>
                </a:lnTo>
                <a:lnTo>
                  <a:pt x="0" y="1332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542478" y="1454632"/>
            <a:ext cx="6690194" cy="998819"/>
          </a:xfrm>
          <a:prstGeom prst="rect">
            <a:avLst/>
          </a:prstGeom>
        </p:spPr>
        <p:txBody>
          <a:bodyPr lIns="0" tIns="0" rIns="0" bIns="0" rtlCol="0" anchor="t">
            <a:spAutoFit/>
          </a:bodyPr>
          <a:lstStyle/>
          <a:p>
            <a:pPr algn="l">
              <a:lnSpc>
                <a:spcPts val="7920"/>
              </a:lnSpc>
            </a:pPr>
            <a:r>
              <a:rPr lang="en-US" sz="6600" b="1" i="1" spc="-323">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METHODOLOGY</a:t>
            </a:r>
            <a:endParaRPr lang="en-US" sz="6600" b="1" i="1" spc="-323">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9" name="TextBox 9"/>
          <p:cNvSpPr txBox="1"/>
          <p:nvPr/>
        </p:nvSpPr>
        <p:spPr>
          <a:xfrm>
            <a:off x="2509778" y="4463871"/>
            <a:ext cx="3099078" cy="126016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RESEARCH &amp;</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DISCOVERY</a:t>
            </a:r>
            <a:endParaRPr lang="en-US" sz="3635" b="1">
              <a:solidFill>
                <a:srgbClr val="000000"/>
              </a:solidFill>
              <a:latin typeface="Gotham Bold"/>
              <a:ea typeface="Gotham Bold"/>
              <a:cs typeface="Gotham Bold"/>
              <a:sym typeface="Gotham Bold"/>
            </a:endParaRPr>
          </a:p>
        </p:txBody>
      </p:sp>
      <p:sp>
        <p:nvSpPr>
          <p:cNvPr id="10" name="TextBox 10"/>
          <p:cNvSpPr txBox="1"/>
          <p:nvPr/>
        </p:nvSpPr>
        <p:spPr>
          <a:xfrm>
            <a:off x="7627330" y="4463871"/>
            <a:ext cx="3167420" cy="126016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DATA </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COLLECTION</a:t>
            </a:r>
            <a:endParaRPr lang="en-US" sz="3635" b="1">
              <a:solidFill>
                <a:srgbClr val="000000"/>
              </a:solidFill>
              <a:latin typeface="Gotham Bold"/>
              <a:ea typeface="Gotham Bold"/>
              <a:cs typeface="Gotham Bold"/>
              <a:sym typeface="Gotham Bold"/>
            </a:endParaRPr>
          </a:p>
        </p:txBody>
      </p:sp>
      <p:sp>
        <p:nvSpPr>
          <p:cNvPr id="11" name="TextBox 11"/>
          <p:cNvSpPr txBox="1"/>
          <p:nvPr/>
        </p:nvSpPr>
        <p:spPr>
          <a:xfrm>
            <a:off x="13146576" y="4463871"/>
            <a:ext cx="2381369" cy="126016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DATA</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ANALYSIS</a:t>
            </a:r>
            <a:endParaRPr lang="en-US" sz="3635" b="1">
              <a:solidFill>
                <a:srgbClr val="000000"/>
              </a:solidFill>
              <a:latin typeface="Gotham Bold"/>
              <a:ea typeface="Gotham Bold"/>
              <a:cs typeface="Gotham Bold"/>
              <a:sym typeface="Gotham Bold"/>
            </a:endParaRPr>
          </a:p>
        </p:txBody>
      </p:sp>
      <p:sp>
        <p:nvSpPr>
          <p:cNvPr id="12" name="TextBox 12"/>
          <p:cNvSpPr txBox="1"/>
          <p:nvPr/>
        </p:nvSpPr>
        <p:spPr>
          <a:xfrm>
            <a:off x="1870215" y="6028836"/>
            <a:ext cx="3672263" cy="2260972"/>
          </a:xfrm>
          <a:prstGeom prst="rect">
            <a:avLst/>
          </a:prstGeom>
        </p:spPr>
        <p:txBody>
          <a:bodyPr lIns="0" tIns="0" rIns="0" bIns="0" rtlCol="0" anchor="t">
            <a:spAutoFit/>
          </a:bodyPr>
          <a:lstStyle/>
          <a:p>
            <a:pPr marL="549910" lvl="1" indent="-274955" algn="l">
              <a:lnSpc>
                <a:spcPts val="3565"/>
              </a:lnSpc>
              <a:spcBef>
                <a:spcPct val="0"/>
              </a:spcBef>
              <a:buFont typeface="Arial" panose="020B0604020202020204"/>
              <a:buChar char="•"/>
            </a:pPr>
            <a:r>
              <a:rPr lang="en-US" sz="2545" b="1" spc="-117">
                <a:solidFill>
                  <a:srgbClr val="000000"/>
                </a:solidFill>
                <a:latin typeface="Raleway Medium"/>
                <a:ea typeface="Raleway Medium"/>
                <a:cs typeface="Raleway Medium"/>
                <a:sym typeface="Raleway Medium"/>
              </a:rPr>
              <a:t>Quantitative m</a:t>
            </a:r>
            <a:r>
              <a:rPr lang="en-US" sz="2545" b="1" spc="-117">
                <a:solidFill>
                  <a:srgbClr val="000000"/>
                </a:solidFill>
                <a:latin typeface="Raleway Medium"/>
                <a:ea typeface="Raleway Medium"/>
                <a:cs typeface="Raleway Medium"/>
                <a:sym typeface="Raleway Medium"/>
              </a:rPr>
              <a:t>odeling using mathematics and statistics</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p>
          <a:p>
            <a:pPr algn="l">
              <a:lnSpc>
                <a:spcPts val="3565"/>
              </a:lnSpc>
              <a:spcBef>
                <a:spcPct val="0"/>
              </a:spcBef>
            </a:pPr>
          </a:p>
        </p:txBody>
      </p:sp>
      <p:sp>
        <p:nvSpPr>
          <p:cNvPr id="13" name="TextBox 13"/>
          <p:cNvSpPr txBox="1"/>
          <p:nvPr/>
        </p:nvSpPr>
        <p:spPr>
          <a:xfrm>
            <a:off x="12221629" y="5914536"/>
            <a:ext cx="5407653" cy="2712770"/>
          </a:xfrm>
          <a:prstGeom prst="rect">
            <a:avLst/>
          </a:prstGeom>
        </p:spPr>
        <p:txBody>
          <a:bodyPr lIns="0" tIns="0" rIns="0" bIns="0" rtlCol="0" anchor="t">
            <a:spAutoFit/>
          </a:bodyPr>
          <a:lstStyle/>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Trend Analysis: Examine GPA patterns over time.</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spcBef>
                <a:spcPct val="0"/>
              </a:spcBef>
              <a:buFont typeface="Arial" panose="020B0604020202020204"/>
              <a:buChar char="•"/>
            </a:pPr>
            <a:r>
              <a:rPr lang="en-US" sz="2545" b="1" spc="-117">
                <a:solidFill>
                  <a:srgbClr val="000000"/>
                </a:solidFill>
                <a:latin typeface="Raleway Medium"/>
                <a:ea typeface="Raleway Medium"/>
                <a:cs typeface="Raleway Medium"/>
                <a:sym typeface="Raleway Medium"/>
              </a:rPr>
              <a:t>Descriptive Statistics: M</a:t>
            </a:r>
            <a:r>
              <a:rPr lang="en-US" sz="2545" b="1" spc="-117">
                <a:solidFill>
                  <a:srgbClr val="000000"/>
                </a:solidFill>
                <a:latin typeface="Raleway Medium"/>
                <a:ea typeface="Raleway Medium"/>
                <a:cs typeface="Raleway Medium"/>
                <a:sym typeface="Raleway Medium"/>
              </a:rPr>
              <a:t>ean, min, max, standard deviation of GPA and other variables.</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p>
        </p:txBody>
      </p:sp>
      <p:sp>
        <p:nvSpPr>
          <p:cNvPr id="14" name="TextBox 14"/>
          <p:cNvSpPr txBox="1"/>
          <p:nvPr/>
        </p:nvSpPr>
        <p:spPr>
          <a:xfrm>
            <a:off x="6780051" y="5914536"/>
            <a:ext cx="4367341" cy="2260972"/>
          </a:xfrm>
          <a:prstGeom prst="rect">
            <a:avLst/>
          </a:prstGeom>
        </p:spPr>
        <p:txBody>
          <a:bodyPr lIns="0" tIns="0" rIns="0" bIns="0" rtlCol="0" anchor="t">
            <a:spAutoFit/>
          </a:bodyPr>
          <a:lstStyle/>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Gather academic records,</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Anonymize data</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Handle missing values</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Selected students from the </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r>
              <a:rPr lang="en-US" sz="2545" b="1" spc="-117">
                <a:solidFill>
                  <a:srgbClr val="000000"/>
                </a:solidFill>
                <a:latin typeface="Raleway Medium"/>
                <a:ea typeface="Raleway Medium"/>
                <a:cs typeface="Raleway Medium"/>
                <a:sym typeface="Raleway Medium"/>
              </a:rPr>
              <a:t>        department for pilot study.</a:t>
            </a:r>
            <a:endParaRPr lang="en-US" sz="2545" b="1" spc="-117">
              <a:solidFill>
                <a:srgbClr val="000000"/>
              </a:solidFill>
              <a:latin typeface="Raleway Medium"/>
              <a:ea typeface="Raleway Medium"/>
              <a:cs typeface="Raleway Medium"/>
              <a:sym typeface="Raleway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205121" y="2667763"/>
            <a:ext cx="16230600" cy="0"/>
          </a:xfrm>
          <a:prstGeom prst="line">
            <a:avLst/>
          </a:prstGeom>
          <a:ln w="28575" cap="flat">
            <a:solidFill>
              <a:srgbClr val="333333"/>
            </a:solidFill>
            <a:prstDash val="solid"/>
            <a:headEnd type="none" w="sm" len="sm"/>
            <a:tailEnd type="none" w="sm" len="sm"/>
          </a:ln>
        </p:spPr>
      </p:sp>
      <p:sp>
        <p:nvSpPr>
          <p:cNvPr id="3" name="AutoShape 3"/>
          <p:cNvSpPr/>
          <p:nvPr/>
        </p:nvSpPr>
        <p:spPr>
          <a:xfrm flipV="1">
            <a:off x="6551384" y="3761006"/>
            <a:ext cx="0" cy="5246672"/>
          </a:xfrm>
          <a:prstGeom prst="line">
            <a:avLst/>
          </a:prstGeom>
          <a:ln w="38100" cap="flat">
            <a:solidFill>
              <a:srgbClr val="00694C"/>
            </a:solidFill>
            <a:prstDash val="solid"/>
            <a:headEnd type="none" w="sm" len="sm"/>
            <a:tailEnd type="none" w="sm" len="sm"/>
          </a:ln>
        </p:spPr>
      </p:sp>
      <p:sp>
        <p:nvSpPr>
          <p:cNvPr id="4" name="AutoShape 4"/>
          <p:cNvSpPr/>
          <p:nvPr/>
        </p:nvSpPr>
        <p:spPr>
          <a:xfrm flipV="1">
            <a:off x="11870697" y="3761006"/>
            <a:ext cx="0" cy="5246672"/>
          </a:xfrm>
          <a:prstGeom prst="line">
            <a:avLst/>
          </a:prstGeom>
          <a:ln w="38100" cap="flat">
            <a:solidFill>
              <a:srgbClr val="00694C"/>
            </a:solidFill>
            <a:prstDash val="solid"/>
            <a:headEnd type="none" w="sm" len="sm"/>
            <a:tailEnd type="none" w="sm" len="sm"/>
          </a:ln>
        </p:spPr>
      </p:sp>
      <p:sp>
        <p:nvSpPr>
          <p:cNvPr id="5" name="Freeform 5"/>
          <p:cNvSpPr/>
          <p:nvPr/>
        </p:nvSpPr>
        <p:spPr>
          <a:xfrm>
            <a:off x="13364873" y="2667763"/>
            <a:ext cx="1944774" cy="1944774"/>
          </a:xfrm>
          <a:custGeom>
            <a:avLst/>
            <a:gdLst/>
            <a:ahLst/>
            <a:cxnLst/>
            <a:rect l="l" t="t" r="r" b="b"/>
            <a:pathLst>
              <a:path w="1944774" h="1944774">
                <a:moveTo>
                  <a:pt x="0" y="0"/>
                </a:moveTo>
                <a:lnTo>
                  <a:pt x="1944774" y="0"/>
                </a:lnTo>
                <a:lnTo>
                  <a:pt x="1944774" y="1944774"/>
                </a:lnTo>
                <a:lnTo>
                  <a:pt x="0" y="1944774"/>
                </a:lnTo>
                <a:lnTo>
                  <a:pt x="0" y="0"/>
                </a:lnTo>
                <a:close/>
              </a:path>
            </a:pathLst>
          </a:custGeom>
          <a:blipFill>
            <a:blip r:embed="rId1"/>
            <a:stretch>
              <a:fillRect/>
            </a:stretch>
          </a:blipFill>
        </p:spPr>
      </p:sp>
      <p:sp>
        <p:nvSpPr>
          <p:cNvPr id="6" name="Freeform 6"/>
          <p:cNvSpPr/>
          <p:nvPr/>
        </p:nvSpPr>
        <p:spPr>
          <a:xfrm>
            <a:off x="3491301" y="3120200"/>
            <a:ext cx="1136034" cy="1113313"/>
          </a:xfrm>
          <a:custGeom>
            <a:avLst/>
            <a:gdLst/>
            <a:ahLst/>
            <a:cxnLst/>
            <a:rect l="l" t="t" r="r" b="b"/>
            <a:pathLst>
              <a:path w="1136034" h="1113313">
                <a:moveTo>
                  <a:pt x="0" y="0"/>
                </a:moveTo>
                <a:lnTo>
                  <a:pt x="1136033" y="0"/>
                </a:lnTo>
                <a:lnTo>
                  <a:pt x="1136033" y="1113313"/>
                </a:lnTo>
                <a:lnTo>
                  <a:pt x="0" y="1113313"/>
                </a:lnTo>
                <a:lnTo>
                  <a:pt x="0" y="0"/>
                </a:lnTo>
                <a:close/>
              </a:path>
            </a:pathLst>
          </a:custGeom>
          <a:blipFill>
            <a:blip r:embed="rId2"/>
            <a:stretch>
              <a:fillRect/>
            </a:stretch>
          </a:blipFill>
        </p:spPr>
      </p:sp>
      <p:sp>
        <p:nvSpPr>
          <p:cNvPr id="7" name="Freeform 7"/>
          <p:cNvSpPr/>
          <p:nvPr/>
        </p:nvSpPr>
        <p:spPr>
          <a:xfrm>
            <a:off x="8422560" y="3010813"/>
            <a:ext cx="1082322" cy="1332088"/>
          </a:xfrm>
          <a:custGeom>
            <a:avLst/>
            <a:gdLst/>
            <a:ahLst/>
            <a:cxnLst/>
            <a:rect l="l" t="t" r="r" b="b"/>
            <a:pathLst>
              <a:path w="1082322" h="1332088">
                <a:moveTo>
                  <a:pt x="0" y="0"/>
                </a:moveTo>
                <a:lnTo>
                  <a:pt x="1082322" y="0"/>
                </a:lnTo>
                <a:lnTo>
                  <a:pt x="1082322" y="1332088"/>
                </a:lnTo>
                <a:lnTo>
                  <a:pt x="0" y="1332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242052" y="1433370"/>
            <a:ext cx="6690194" cy="998819"/>
          </a:xfrm>
          <a:prstGeom prst="rect">
            <a:avLst/>
          </a:prstGeom>
        </p:spPr>
        <p:txBody>
          <a:bodyPr lIns="0" tIns="0" rIns="0" bIns="0" rtlCol="0" anchor="t">
            <a:spAutoFit/>
          </a:bodyPr>
          <a:lstStyle/>
          <a:p>
            <a:pPr algn="l">
              <a:lnSpc>
                <a:spcPts val="7920"/>
              </a:lnSpc>
            </a:pPr>
            <a:r>
              <a:rPr lang="en-US" sz="6600" b="1" i="1" spc="-323">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METHODOLOGY</a:t>
            </a:r>
            <a:endParaRPr lang="en-US" sz="6600" b="1" i="1" spc="-323">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9" name="TextBox 9"/>
          <p:cNvSpPr txBox="1"/>
          <p:nvPr/>
        </p:nvSpPr>
        <p:spPr>
          <a:xfrm>
            <a:off x="2485311" y="4463871"/>
            <a:ext cx="3148012" cy="126016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REGRESSION</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MODELLING</a:t>
            </a:r>
            <a:endParaRPr lang="en-US" sz="3635" b="1">
              <a:solidFill>
                <a:srgbClr val="000000"/>
              </a:solidFill>
              <a:latin typeface="Gotham Bold"/>
              <a:ea typeface="Gotham Bold"/>
              <a:cs typeface="Gotham Bold"/>
              <a:sym typeface="Gotham Bold"/>
            </a:endParaRPr>
          </a:p>
        </p:txBody>
      </p:sp>
      <p:sp>
        <p:nvSpPr>
          <p:cNvPr id="10" name="TextBox 10"/>
          <p:cNvSpPr txBox="1"/>
          <p:nvPr/>
        </p:nvSpPr>
        <p:spPr>
          <a:xfrm>
            <a:off x="7529640" y="4463871"/>
            <a:ext cx="3362801" cy="126016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MODEL</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DEPLOYMENT</a:t>
            </a:r>
            <a:endParaRPr lang="en-US" sz="3635" b="1">
              <a:solidFill>
                <a:srgbClr val="000000"/>
              </a:solidFill>
              <a:latin typeface="Gotham Bold"/>
              <a:ea typeface="Gotham Bold"/>
              <a:cs typeface="Gotham Bold"/>
              <a:sym typeface="Gotham Bold"/>
            </a:endParaRPr>
          </a:p>
        </p:txBody>
      </p:sp>
      <p:sp>
        <p:nvSpPr>
          <p:cNvPr id="11" name="TextBox 11"/>
          <p:cNvSpPr txBox="1"/>
          <p:nvPr/>
        </p:nvSpPr>
        <p:spPr>
          <a:xfrm>
            <a:off x="13146576" y="4463871"/>
            <a:ext cx="2381369" cy="1304925"/>
          </a:xfrm>
          <a:prstGeom prst="rect">
            <a:avLst/>
          </a:prstGeom>
        </p:spPr>
        <p:txBody>
          <a:bodyPr lIns="0" tIns="0" rIns="0" bIns="0" rtlCol="0" anchor="t">
            <a:spAutoFit/>
          </a:bodyPr>
          <a:lstStyle/>
          <a:p>
            <a:pPr algn="ctr">
              <a:lnSpc>
                <a:spcPts val="5090"/>
              </a:lnSpc>
            </a:pPr>
            <a:r>
              <a:rPr lang="en-US" sz="3635" b="1">
                <a:solidFill>
                  <a:srgbClr val="000000"/>
                </a:solidFill>
                <a:latin typeface="Gotham Bold"/>
                <a:ea typeface="Gotham Bold"/>
                <a:cs typeface="Gotham Bold"/>
                <a:sym typeface="Gotham Bold"/>
              </a:rPr>
              <a:t>DATA</a:t>
            </a:r>
            <a:endParaRPr lang="en-US" sz="3635" b="1">
              <a:solidFill>
                <a:srgbClr val="000000"/>
              </a:solidFill>
              <a:latin typeface="Gotham Bold"/>
              <a:ea typeface="Gotham Bold"/>
              <a:cs typeface="Gotham Bold"/>
              <a:sym typeface="Gotham Bold"/>
            </a:endParaRPr>
          </a:p>
          <a:p>
            <a:pPr algn="ctr">
              <a:lnSpc>
                <a:spcPts val="5090"/>
              </a:lnSpc>
              <a:spcBef>
                <a:spcPct val="0"/>
              </a:spcBef>
            </a:pPr>
            <a:r>
              <a:rPr lang="en-US" sz="3635" b="1">
                <a:solidFill>
                  <a:srgbClr val="000000"/>
                </a:solidFill>
                <a:latin typeface="Gotham Bold"/>
                <a:ea typeface="Gotham Bold"/>
                <a:cs typeface="Gotham Bold"/>
                <a:sym typeface="Gotham Bold"/>
              </a:rPr>
              <a:t>ANALYSI</a:t>
            </a:r>
            <a:endParaRPr lang="en-US" sz="3635" b="1">
              <a:solidFill>
                <a:srgbClr val="000000"/>
              </a:solidFill>
              <a:latin typeface="Gotham Bold"/>
              <a:ea typeface="Gotham Bold"/>
              <a:cs typeface="Gotham Bold"/>
              <a:sym typeface="Gotham Bold"/>
            </a:endParaRPr>
          </a:p>
        </p:txBody>
      </p:sp>
      <p:sp>
        <p:nvSpPr>
          <p:cNvPr id="12" name="TextBox 12"/>
          <p:cNvSpPr txBox="1"/>
          <p:nvPr/>
        </p:nvSpPr>
        <p:spPr>
          <a:xfrm>
            <a:off x="1870215" y="6028836"/>
            <a:ext cx="3672263" cy="2260972"/>
          </a:xfrm>
          <a:prstGeom prst="rect">
            <a:avLst/>
          </a:prstGeom>
        </p:spPr>
        <p:txBody>
          <a:bodyPr lIns="0" tIns="0" rIns="0" bIns="0" rtlCol="0" anchor="t">
            <a:spAutoFit/>
          </a:bodyPr>
          <a:lstStyle/>
          <a:p>
            <a:pPr marL="549910" lvl="1" indent="-274955" algn="l">
              <a:lnSpc>
                <a:spcPts val="3565"/>
              </a:lnSpc>
              <a:spcBef>
                <a:spcPct val="0"/>
              </a:spcBef>
              <a:buFont typeface="Arial" panose="020B0604020202020204"/>
              <a:buChar char="•"/>
            </a:pPr>
            <a:r>
              <a:rPr lang="en-US" sz="2545" b="1" spc="-117">
                <a:solidFill>
                  <a:srgbClr val="000000"/>
                </a:solidFill>
                <a:latin typeface="Raleway Medium"/>
                <a:ea typeface="Raleway Medium"/>
                <a:cs typeface="Raleway Medium"/>
                <a:sym typeface="Raleway Medium"/>
              </a:rPr>
              <a:t>Quantitative m</a:t>
            </a:r>
            <a:r>
              <a:rPr lang="en-US" sz="2545" b="1" spc="-117">
                <a:solidFill>
                  <a:srgbClr val="000000"/>
                </a:solidFill>
                <a:latin typeface="Raleway Medium"/>
                <a:ea typeface="Raleway Medium"/>
                <a:cs typeface="Raleway Medium"/>
                <a:sym typeface="Raleway Medium"/>
              </a:rPr>
              <a:t>odeling using mathematics and statistics</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p>
          <a:p>
            <a:pPr algn="l">
              <a:lnSpc>
                <a:spcPts val="3565"/>
              </a:lnSpc>
              <a:spcBef>
                <a:spcPct val="0"/>
              </a:spcBef>
            </a:pPr>
          </a:p>
        </p:txBody>
      </p:sp>
      <p:sp>
        <p:nvSpPr>
          <p:cNvPr id="13" name="TextBox 13"/>
          <p:cNvSpPr txBox="1"/>
          <p:nvPr/>
        </p:nvSpPr>
        <p:spPr>
          <a:xfrm>
            <a:off x="12221629" y="5914536"/>
            <a:ext cx="5407653" cy="2712770"/>
          </a:xfrm>
          <a:prstGeom prst="rect">
            <a:avLst/>
          </a:prstGeom>
        </p:spPr>
        <p:txBody>
          <a:bodyPr lIns="0" tIns="0" rIns="0" bIns="0" rtlCol="0" anchor="t">
            <a:spAutoFit/>
          </a:bodyPr>
          <a:lstStyle/>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Trend Analysis: Examine GPA patterns over time.</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spcBef>
                <a:spcPct val="0"/>
              </a:spcBef>
              <a:buFont typeface="Arial" panose="020B0604020202020204"/>
              <a:buChar char="•"/>
            </a:pPr>
            <a:r>
              <a:rPr lang="en-US" sz="2545" b="1" spc="-117">
                <a:solidFill>
                  <a:srgbClr val="000000"/>
                </a:solidFill>
                <a:latin typeface="Raleway Medium"/>
                <a:ea typeface="Raleway Medium"/>
                <a:cs typeface="Raleway Medium"/>
                <a:sym typeface="Raleway Medium"/>
              </a:rPr>
              <a:t>Descriptive Statistics: M</a:t>
            </a:r>
            <a:r>
              <a:rPr lang="en-US" sz="2545" b="1" spc="-117">
                <a:solidFill>
                  <a:srgbClr val="000000"/>
                </a:solidFill>
                <a:latin typeface="Raleway Medium"/>
                <a:ea typeface="Raleway Medium"/>
                <a:cs typeface="Raleway Medium"/>
                <a:sym typeface="Raleway Medium"/>
              </a:rPr>
              <a:t>ean, min, max, standard deviation of GPA and other variables.</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p>
        </p:txBody>
      </p:sp>
      <p:sp>
        <p:nvSpPr>
          <p:cNvPr id="14" name="TextBox 14"/>
          <p:cNvSpPr txBox="1"/>
          <p:nvPr/>
        </p:nvSpPr>
        <p:spPr>
          <a:xfrm>
            <a:off x="6780051" y="5914536"/>
            <a:ext cx="4367341" cy="2260972"/>
          </a:xfrm>
          <a:prstGeom prst="rect">
            <a:avLst/>
          </a:prstGeom>
        </p:spPr>
        <p:txBody>
          <a:bodyPr lIns="0" tIns="0" rIns="0" bIns="0" rtlCol="0" anchor="t">
            <a:spAutoFit/>
          </a:bodyPr>
          <a:lstStyle/>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Gather academic records,</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Anonymize data</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Handle missing values</a:t>
            </a:r>
            <a:endParaRPr lang="en-US" sz="2545" b="1" spc="-117">
              <a:solidFill>
                <a:srgbClr val="000000"/>
              </a:solidFill>
              <a:latin typeface="Raleway Medium"/>
              <a:ea typeface="Raleway Medium"/>
              <a:cs typeface="Raleway Medium"/>
              <a:sym typeface="Raleway Medium"/>
            </a:endParaRPr>
          </a:p>
          <a:p>
            <a:pPr marL="549910" lvl="1" indent="-274955" algn="l">
              <a:lnSpc>
                <a:spcPts val="3565"/>
              </a:lnSpc>
              <a:buFont typeface="Arial" panose="020B0604020202020204"/>
              <a:buChar char="•"/>
            </a:pPr>
            <a:r>
              <a:rPr lang="en-US" sz="2545" b="1" spc="-117">
                <a:solidFill>
                  <a:srgbClr val="000000"/>
                </a:solidFill>
                <a:latin typeface="Raleway Medium"/>
                <a:ea typeface="Raleway Medium"/>
                <a:cs typeface="Raleway Medium"/>
                <a:sym typeface="Raleway Medium"/>
              </a:rPr>
              <a:t>Selected students from the </a:t>
            </a:r>
            <a:endParaRPr lang="en-US" sz="2545" b="1" spc="-117">
              <a:solidFill>
                <a:srgbClr val="000000"/>
              </a:solidFill>
              <a:latin typeface="Raleway Medium"/>
              <a:ea typeface="Raleway Medium"/>
              <a:cs typeface="Raleway Medium"/>
              <a:sym typeface="Raleway Medium"/>
            </a:endParaRPr>
          </a:p>
          <a:p>
            <a:pPr algn="l">
              <a:lnSpc>
                <a:spcPts val="3565"/>
              </a:lnSpc>
              <a:spcBef>
                <a:spcPct val="0"/>
              </a:spcBef>
            </a:pPr>
            <a:r>
              <a:rPr lang="en-US" sz="2545" b="1" spc="-117">
                <a:solidFill>
                  <a:srgbClr val="000000"/>
                </a:solidFill>
                <a:latin typeface="Raleway Medium"/>
                <a:ea typeface="Raleway Medium"/>
                <a:cs typeface="Raleway Medium"/>
                <a:sym typeface="Raleway Medium"/>
              </a:rPr>
              <a:t>        department for pilot study.</a:t>
            </a:r>
            <a:endParaRPr lang="en-US" sz="2545" b="1" spc="-117">
              <a:solidFill>
                <a:srgbClr val="000000"/>
              </a:solidFill>
              <a:latin typeface="Raleway Medium"/>
              <a:ea typeface="Raleway Medium"/>
              <a:cs typeface="Raleway Medium"/>
              <a:sym typeface="Ralew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grpSp>
        <p:nvGrpSpPr>
          <p:cNvPr id="2" name="Group 2"/>
          <p:cNvGrpSpPr/>
          <p:nvPr/>
        </p:nvGrpSpPr>
        <p:grpSpPr>
          <a:xfrm rot="0">
            <a:off x="1930407" y="4174457"/>
            <a:ext cx="3993857" cy="773093"/>
            <a:chOff x="0" y="0"/>
            <a:chExt cx="3411676" cy="660400"/>
          </a:xfrm>
        </p:grpSpPr>
        <p:sp>
          <p:nvSpPr>
            <p:cNvPr id="3" name="Freeform 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4" name="Group 4"/>
          <p:cNvGrpSpPr/>
          <p:nvPr/>
        </p:nvGrpSpPr>
        <p:grpSpPr>
          <a:xfrm rot="0">
            <a:off x="1930407" y="5090425"/>
            <a:ext cx="3993857" cy="773093"/>
            <a:chOff x="0" y="0"/>
            <a:chExt cx="3411676" cy="660400"/>
          </a:xfrm>
        </p:grpSpPr>
        <p:sp>
          <p:nvSpPr>
            <p:cNvPr id="5" name="Freeform 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6" name="Group 6"/>
          <p:cNvGrpSpPr/>
          <p:nvPr/>
        </p:nvGrpSpPr>
        <p:grpSpPr>
          <a:xfrm rot="0">
            <a:off x="1930407" y="6006393"/>
            <a:ext cx="3993857" cy="773093"/>
            <a:chOff x="0" y="0"/>
            <a:chExt cx="3411676" cy="660400"/>
          </a:xfrm>
        </p:grpSpPr>
        <p:sp>
          <p:nvSpPr>
            <p:cNvPr id="7" name="Freeform 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8" name="Group 8"/>
          <p:cNvGrpSpPr/>
          <p:nvPr/>
        </p:nvGrpSpPr>
        <p:grpSpPr>
          <a:xfrm rot="0">
            <a:off x="1930407" y="6922362"/>
            <a:ext cx="3993857" cy="773093"/>
            <a:chOff x="0" y="0"/>
            <a:chExt cx="3411676" cy="660400"/>
          </a:xfrm>
        </p:grpSpPr>
        <p:sp>
          <p:nvSpPr>
            <p:cNvPr id="9" name="Freeform 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10" name="Group 10"/>
          <p:cNvGrpSpPr/>
          <p:nvPr/>
        </p:nvGrpSpPr>
        <p:grpSpPr>
          <a:xfrm rot="0">
            <a:off x="1930407" y="7838330"/>
            <a:ext cx="3993857" cy="773093"/>
            <a:chOff x="0" y="0"/>
            <a:chExt cx="3411676" cy="660400"/>
          </a:xfrm>
        </p:grpSpPr>
        <p:sp>
          <p:nvSpPr>
            <p:cNvPr id="11" name="Freeform 1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12" name="Group 12"/>
          <p:cNvGrpSpPr/>
          <p:nvPr/>
        </p:nvGrpSpPr>
        <p:grpSpPr>
          <a:xfrm rot="0">
            <a:off x="6051419" y="4174457"/>
            <a:ext cx="3993857" cy="773093"/>
            <a:chOff x="0" y="0"/>
            <a:chExt cx="3411676" cy="660400"/>
          </a:xfrm>
        </p:grpSpPr>
        <p:sp>
          <p:nvSpPr>
            <p:cNvPr id="13" name="Freeform 1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sp>
      </p:grpSp>
      <p:grpSp>
        <p:nvGrpSpPr>
          <p:cNvPr id="14" name="Group 14"/>
          <p:cNvGrpSpPr/>
          <p:nvPr/>
        </p:nvGrpSpPr>
        <p:grpSpPr>
          <a:xfrm rot="0">
            <a:off x="6051419" y="5090425"/>
            <a:ext cx="3993857" cy="773093"/>
            <a:chOff x="0" y="0"/>
            <a:chExt cx="3411676" cy="660400"/>
          </a:xfrm>
        </p:grpSpPr>
        <p:sp>
          <p:nvSpPr>
            <p:cNvPr id="15" name="Freeform 1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sp>
      </p:grpSp>
      <p:grpSp>
        <p:nvGrpSpPr>
          <p:cNvPr id="16" name="Group 16"/>
          <p:cNvGrpSpPr/>
          <p:nvPr/>
        </p:nvGrpSpPr>
        <p:grpSpPr>
          <a:xfrm rot="0">
            <a:off x="6051419" y="6006393"/>
            <a:ext cx="3993857" cy="773093"/>
            <a:chOff x="0" y="0"/>
            <a:chExt cx="3411676" cy="660400"/>
          </a:xfrm>
        </p:grpSpPr>
        <p:sp>
          <p:nvSpPr>
            <p:cNvPr id="17" name="Freeform 1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sp>
      </p:grpSp>
      <p:grpSp>
        <p:nvGrpSpPr>
          <p:cNvPr id="18" name="Group 18"/>
          <p:cNvGrpSpPr/>
          <p:nvPr/>
        </p:nvGrpSpPr>
        <p:grpSpPr>
          <a:xfrm rot="0">
            <a:off x="6051419" y="6922362"/>
            <a:ext cx="3993857" cy="773093"/>
            <a:chOff x="0" y="0"/>
            <a:chExt cx="3411676" cy="660400"/>
          </a:xfrm>
        </p:grpSpPr>
        <p:sp>
          <p:nvSpPr>
            <p:cNvPr id="19" name="Freeform 1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sp>
      </p:grpSp>
      <p:grpSp>
        <p:nvGrpSpPr>
          <p:cNvPr id="20" name="Group 20"/>
          <p:cNvGrpSpPr/>
          <p:nvPr/>
        </p:nvGrpSpPr>
        <p:grpSpPr>
          <a:xfrm rot="0">
            <a:off x="6051419" y="7838330"/>
            <a:ext cx="3993857" cy="773093"/>
            <a:chOff x="0" y="0"/>
            <a:chExt cx="3411676" cy="660400"/>
          </a:xfrm>
        </p:grpSpPr>
        <p:sp>
          <p:nvSpPr>
            <p:cNvPr id="21" name="Freeform 2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sp>
      </p:grpSp>
      <p:grpSp>
        <p:nvGrpSpPr>
          <p:cNvPr id="22" name="Group 22"/>
          <p:cNvGrpSpPr/>
          <p:nvPr/>
        </p:nvGrpSpPr>
        <p:grpSpPr>
          <a:xfrm rot="0">
            <a:off x="6008747" y="3255328"/>
            <a:ext cx="3993857" cy="773093"/>
            <a:chOff x="0" y="0"/>
            <a:chExt cx="3411676" cy="660400"/>
          </a:xfrm>
        </p:grpSpPr>
        <p:sp>
          <p:nvSpPr>
            <p:cNvPr id="23" name="Freeform 2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id="24" name="Group 24"/>
          <p:cNvGrpSpPr/>
          <p:nvPr/>
        </p:nvGrpSpPr>
        <p:grpSpPr>
          <a:xfrm rot="0">
            <a:off x="10087949" y="4174457"/>
            <a:ext cx="6522559" cy="773093"/>
            <a:chOff x="0" y="0"/>
            <a:chExt cx="5571771" cy="660400"/>
          </a:xfrm>
        </p:grpSpPr>
        <p:sp>
          <p:nvSpPr>
            <p:cNvPr id="25" name="Freeform 25"/>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E1E1E1"/>
            </a:solidFill>
          </p:spPr>
        </p:sp>
      </p:grpSp>
      <p:grpSp>
        <p:nvGrpSpPr>
          <p:cNvPr id="26" name="Group 26"/>
          <p:cNvGrpSpPr/>
          <p:nvPr/>
        </p:nvGrpSpPr>
        <p:grpSpPr>
          <a:xfrm rot="0">
            <a:off x="10087949" y="5090425"/>
            <a:ext cx="6522559" cy="773093"/>
            <a:chOff x="0" y="0"/>
            <a:chExt cx="5571771" cy="660400"/>
          </a:xfrm>
        </p:grpSpPr>
        <p:sp>
          <p:nvSpPr>
            <p:cNvPr id="27" name="Freeform 27"/>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E1E1E1"/>
            </a:solidFill>
          </p:spPr>
        </p:sp>
      </p:grpSp>
      <p:grpSp>
        <p:nvGrpSpPr>
          <p:cNvPr id="28" name="Group 28"/>
          <p:cNvGrpSpPr/>
          <p:nvPr/>
        </p:nvGrpSpPr>
        <p:grpSpPr>
          <a:xfrm rot="0">
            <a:off x="10087949" y="6006393"/>
            <a:ext cx="6522559" cy="773093"/>
            <a:chOff x="0" y="0"/>
            <a:chExt cx="5571771" cy="660400"/>
          </a:xfrm>
        </p:grpSpPr>
        <p:sp>
          <p:nvSpPr>
            <p:cNvPr id="29" name="Freeform 29"/>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E1E1E1"/>
            </a:solidFill>
          </p:spPr>
        </p:sp>
      </p:grpSp>
      <p:grpSp>
        <p:nvGrpSpPr>
          <p:cNvPr id="30" name="Group 30"/>
          <p:cNvGrpSpPr/>
          <p:nvPr/>
        </p:nvGrpSpPr>
        <p:grpSpPr>
          <a:xfrm rot="0">
            <a:off x="10087949" y="6922362"/>
            <a:ext cx="6522559" cy="773093"/>
            <a:chOff x="0" y="0"/>
            <a:chExt cx="5571771" cy="660400"/>
          </a:xfrm>
        </p:grpSpPr>
        <p:sp>
          <p:nvSpPr>
            <p:cNvPr id="31" name="Freeform 31"/>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E1E1E1"/>
            </a:solidFill>
          </p:spPr>
        </p:sp>
      </p:grpSp>
      <p:grpSp>
        <p:nvGrpSpPr>
          <p:cNvPr id="32" name="Group 32"/>
          <p:cNvGrpSpPr/>
          <p:nvPr/>
        </p:nvGrpSpPr>
        <p:grpSpPr>
          <a:xfrm rot="0">
            <a:off x="10087949" y="7838330"/>
            <a:ext cx="6522559" cy="773093"/>
            <a:chOff x="0" y="0"/>
            <a:chExt cx="5571771" cy="660400"/>
          </a:xfrm>
        </p:grpSpPr>
        <p:sp>
          <p:nvSpPr>
            <p:cNvPr id="33" name="Freeform 33"/>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E1E1E1"/>
            </a:solidFill>
          </p:spPr>
        </p:sp>
      </p:grpSp>
      <p:grpSp>
        <p:nvGrpSpPr>
          <p:cNvPr id="34" name="Group 34"/>
          <p:cNvGrpSpPr/>
          <p:nvPr/>
        </p:nvGrpSpPr>
        <p:grpSpPr>
          <a:xfrm rot="0">
            <a:off x="10087949" y="3255328"/>
            <a:ext cx="6522559" cy="773093"/>
            <a:chOff x="0" y="0"/>
            <a:chExt cx="5571771" cy="660400"/>
          </a:xfrm>
        </p:grpSpPr>
        <p:sp>
          <p:nvSpPr>
            <p:cNvPr id="35" name="Freeform 35"/>
            <p:cNvSpPr/>
            <p:nvPr/>
          </p:nvSpPr>
          <p:spPr>
            <a:xfrm>
              <a:off x="0" y="0"/>
              <a:ext cx="5571771" cy="660400"/>
            </a:xfrm>
            <a:custGeom>
              <a:avLst/>
              <a:gdLst/>
              <a:ahLst/>
              <a:cxnLst/>
              <a:rect l="l" t="t" r="r" b="b"/>
              <a:pathLst>
                <a:path w="5571771" h="660400">
                  <a:moveTo>
                    <a:pt x="5447311" y="660400"/>
                  </a:moveTo>
                  <a:lnTo>
                    <a:pt x="124460" y="660400"/>
                  </a:lnTo>
                  <a:cubicBezTo>
                    <a:pt x="55880" y="660400"/>
                    <a:pt x="0" y="604520"/>
                    <a:pt x="0" y="535940"/>
                  </a:cubicBezTo>
                  <a:lnTo>
                    <a:pt x="0" y="124460"/>
                  </a:lnTo>
                  <a:cubicBezTo>
                    <a:pt x="0" y="55880"/>
                    <a:pt x="55880" y="0"/>
                    <a:pt x="124460" y="0"/>
                  </a:cubicBezTo>
                  <a:lnTo>
                    <a:pt x="5447311" y="0"/>
                  </a:lnTo>
                  <a:cubicBezTo>
                    <a:pt x="5515891" y="0"/>
                    <a:pt x="5571771" y="55880"/>
                    <a:pt x="5571771" y="124460"/>
                  </a:cubicBezTo>
                  <a:lnTo>
                    <a:pt x="5571771" y="535940"/>
                  </a:lnTo>
                  <a:cubicBezTo>
                    <a:pt x="5571771" y="604520"/>
                    <a:pt x="5515891" y="660400"/>
                    <a:pt x="5447311" y="660400"/>
                  </a:cubicBezTo>
                  <a:close/>
                </a:path>
              </a:pathLst>
            </a:custGeom>
            <a:solidFill>
              <a:srgbClr val="333333"/>
            </a:solidFill>
          </p:spPr>
        </p:sp>
      </p:grpSp>
      <p:sp>
        <p:nvSpPr>
          <p:cNvPr id="36" name="TextBox 36"/>
          <p:cNvSpPr txBox="1"/>
          <p:nvPr/>
        </p:nvSpPr>
        <p:spPr>
          <a:xfrm>
            <a:off x="5924265" y="857250"/>
            <a:ext cx="5308444" cy="1143000"/>
          </a:xfrm>
          <a:prstGeom prst="rect">
            <a:avLst/>
          </a:prstGeom>
        </p:spPr>
        <p:txBody>
          <a:bodyPr lIns="0" tIns="0" rIns="0" bIns="0" rtlCol="0" anchor="t">
            <a:spAutoFit/>
          </a:bodyPr>
          <a:lstStyle/>
          <a:p>
            <a:pPr algn="l">
              <a:lnSpc>
                <a:spcPts val="9000"/>
              </a:lnSpc>
            </a:pPr>
            <a:r>
              <a:rPr lang="en-US" sz="7500" b="1" i="1" spc="-367">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VARIABLES</a:t>
            </a:r>
            <a:endParaRPr lang="en-US" sz="7500" b="1" i="1" spc="-367">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37" name="TextBox 37"/>
          <p:cNvSpPr txBox="1"/>
          <p:nvPr/>
        </p:nvSpPr>
        <p:spPr>
          <a:xfrm>
            <a:off x="2001479" y="4365741"/>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GPA</a:t>
            </a:r>
            <a:endParaRPr lang="en-US" sz="2500" b="1">
              <a:solidFill>
                <a:srgbClr val="F5F5F4"/>
              </a:solidFill>
              <a:latin typeface="Public Sans Bold"/>
              <a:ea typeface="Public Sans Bold"/>
              <a:cs typeface="Public Sans Bold"/>
              <a:sym typeface="Public Sans Bold"/>
            </a:endParaRPr>
          </a:p>
        </p:txBody>
      </p:sp>
      <p:sp>
        <p:nvSpPr>
          <p:cNvPr id="38" name="TextBox 38"/>
          <p:cNvSpPr txBox="1"/>
          <p:nvPr/>
        </p:nvSpPr>
        <p:spPr>
          <a:xfrm>
            <a:off x="2001479" y="5281709"/>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PREVIOUS GPA</a:t>
            </a:r>
            <a:endParaRPr lang="en-US" sz="2500" b="1">
              <a:solidFill>
                <a:srgbClr val="F5F5F4"/>
              </a:solidFill>
              <a:latin typeface="Public Sans Bold"/>
              <a:ea typeface="Public Sans Bold"/>
              <a:cs typeface="Public Sans Bold"/>
              <a:sym typeface="Public Sans Bold"/>
            </a:endParaRPr>
          </a:p>
        </p:txBody>
      </p:sp>
      <p:sp>
        <p:nvSpPr>
          <p:cNvPr id="39" name="TextBox 39"/>
          <p:cNvSpPr txBox="1"/>
          <p:nvPr/>
        </p:nvSpPr>
        <p:spPr>
          <a:xfrm>
            <a:off x="2001479" y="6197678"/>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ATTENDANCE</a:t>
            </a:r>
            <a:endParaRPr lang="en-US" sz="2500" b="1">
              <a:solidFill>
                <a:srgbClr val="F5F5F4"/>
              </a:solidFill>
              <a:latin typeface="Public Sans Bold"/>
              <a:ea typeface="Public Sans Bold"/>
              <a:cs typeface="Public Sans Bold"/>
              <a:sym typeface="Public Sans Bold"/>
            </a:endParaRPr>
          </a:p>
        </p:txBody>
      </p:sp>
      <p:sp>
        <p:nvSpPr>
          <p:cNvPr id="40" name="TextBox 40"/>
          <p:cNvSpPr txBox="1"/>
          <p:nvPr/>
        </p:nvSpPr>
        <p:spPr>
          <a:xfrm>
            <a:off x="2001479" y="7113646"/>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COURSE LOAD</a:t>
            </a:r>
            <a:endParaRPr lang="en-US" sz="2500" b="1">
              <a:solidFill>
                <a:srgbClr val="F5F5F4"/>
              </a:solidFill>
              <a:latin typeface="Public Sans Bold"/>
              <a:ea typeface="Public Sans Bold"/>
              <a:cs typeface="Public Sans Bold"/>
              <a:sym typeface="Public Sans Bold"/>
            </a:endParaRPr>
          </a:p>
        </p:txBody>
      </p:sp>
      <p:sp>
        <p:nvSpPr>
          <p:cNvPr id="41" name="TextBox 41"/>
          <p:cNvSpPr txBox="1"/>
          <p:nvPr/>
        </p:nvSpPr>
        <p:spPr>
          <a:xfrm>
            <a:off x="2001479" y="8029614"/>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STUDY HOURS</a:t>
            </a:r>
            <a:endParaRPr lang="en-US" sz="2500" b="1">
              <a:solidFill>
                <a:srgbClr val="F5F5F4"/>
              </a:solidFill>
              <a:latin typeface="Public Sans Bold"/>
              <a:ea typeface="Public Sans Bold"/>
              <a:cs typeface="Public Sans Bold"/>
              <a:sym typeface="Public Sans Bold"/>
            </a:endParaRPr>
          </a:p>
        </p:txBody>
      </p:sp>
      <p:sp>
        <p:nvSpPr>
          <p:cNvPr id="42" name="TextBox 42"/>
          <p:cNvSpPr txBox="1"/>
          <p:nvPr/>
        </p:nvSpPr>
        <p:spPr>
          <a:xfrm>
            <a:off x="6079819" y="3446612"/>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TYPE</a:t>
            </a:r>
            <a:endParaRPr lang="en-US" sz="2500" b="1">
              <a:solidFill>
                <a:srgbClr val="F5F5F4"/>
              </a:solidFill>
              <a:latin typeface="Public Sans Bold"/>
              <a:ea typeface="Public Sans Bold"/>
              <a:cs typeface="Public Sans Bold"/>
              <a:sym typeface="Public Sans Bold"/>
            </a:endParaRPr>
          </a:p>
        </p:txBody>
      </p:sp>
      <p:sp>
        <p:nvSpPr>
          <p:cNvPr id="43" name="TextBox 43"/>
          <p:cNvSpPr txBox="1"/>
          <p:nvPr/>
        </p:nvSpPr>
        <p:spPr>
          <a:xfrm>
            <a:off x="11423371" y="3446612"/>
            <a:ext cx="3851713" cy="381000"/>
          </a:xfrm>
          <a:prstGeom prst="rect">
            <a:avLst/>
          </a:prstGeom>
        </p:spPr>
        <p:txBody>
          <a:bodyPr lIns="0" tIns="0" rIns="0" bIns="0" rtlCol="0" anchor="t">
            <a:spAutoFit/>
          </a:bodyPr>
          <a:lstStyle/>
          <a:p>
            <a:pPr algn="ctr">
              <a:lnSpc>
                <a:spcPts val="3000"/>
              </a:lnSpc>
            </a:pPr>
            <a:r>
              <a:rPr lang="en-US" sz="2500" b="1">
                <a:solidFill>
                  <a:srgbClr val="F5F5F4"/>
                </a:solidFill>
                <a:latin typeface="Public Sans Bold"/>
                <a:ea typeface="Public Sans Bold"/>
                <a:cs typeface="Public Sans Bold"/>
                <a:sym typeface="Public Sans Bold"/>
              </a:rPr>
              <a:t>DESCRIPTION</a:t>
            </a:r>
            <a:endParaRPr lang="en-US" sz="2500" b="1">
              <a:solidFill>
                <a:srgbClr val="F5F5F4"/>
              </a:solidFill>
              <a:latin typeface="Public Sans Bold"/>
              <a:ea typeface="Public Sans Bold"/>
              <a:cs typeface="Public Sans Bold"/>
              <a:sym typeface="Public Sans Bold"/>
            </a:endParaRPr>
          </a:p>
        </p:txBody>
      </p:sp>
      <p:sp>
        <p:nvSpPr>
          <p:cNvPr id="44" name="TextBox 44"/>
          <p:cNvSpPr txBox="1"/>
          <p:nvPr/>
        </p:nvSpPr>
        <p:spPr>
          <a:xfrm>
            <a:off x="6122491" y="4366525"/>
            <a:ext cx="3851713"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Dependent</a:t>
            </a:r>
            <a:endParaRPr lang="en-US" sz="2500" b="1">
              <a:solidFill>
                <a:srgbClr val="000000"/>
              </a:solidFill>
              <a:latin typeface="Public Sans Bold"/>
              <a:ea typeface="Public Sans Bold"/>
              <a:cs typeface="Public Sans Bold"/>
              <a:sym typeface="Public Sans Bold"/>
            </a:endParaRPr>
          </a:p>
        </p:txBody>
      </p:sp>
      <p:sp>
        <p:nvSpPr>
          <p:cNvPr id="45" name="TextBox 45"/>
          <p:cNvSpPr txBox="1"/>
          <p:nvPr/>
        </p:nvSpPr>
        <p:spPr>
          <a:xfrm>
            <a:off x="6122491" y="6196893"/>
            <a:ext cx="3851713"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Independent</a:t>
            </a:r>
            <a:endParaRPr lang="en-US" sz="2500" b="1">
              <a:solidFill>
                <a:srgbClr val="000000"/>
              </a:solidFill>
              <a:latin typeface="Public Sans Bold"/>
              <a:ea typeface="Public Sans Bold"/>
              <a:cs typeface="Public Sans Bold"/>
              <a:sym typeface="Public Sans Bold"/>
            </a:endParaRPr>
          </a:p>
        </p:txBody>
      </p:sp>
      <p:sp>
        <p:nvSpPr>
          <p:cNvPr id="46" name="TextBox 46"/>
          <p:cNvSpPr txBox="1"/>
          <p:nvPr/>
        </p:nvSpPr>
        <p:spPr>
          <a:xfrm>
            <a:off x="6122491" y="7113646"/>
            <a:ext cx="3851713"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Independent</a:t>
            </a:r>
            <a:endParaRPr lang="en-US" sz="2500" b="1">
              <a:solidFill>
                <a:srgbClr val="000000"/>
              </a:solidFill>
              <a:latin typeface="Public Sans Bold"/>
              <a:ea typeface="Public Sans Bold"/>
              <a:cs typeface="Public Sans Bold"/>
              <a:sym typeface="Public Sans Bold"/>
            </a:endParaRPr>
          </a:p>
        </p:txBody>
      </p:sp>
      <p:sp>
        <p:nvSpPr>
          <p:cNvPr id="47" name="TextBox 47"/>
          <p:cNvSpPr txBox="1"/>
          <p:nvPr/>
        </p:nvSpPr>
        <p:spPr>
          <a:xfrm>
            <a:off x="6122491" y="8028830"/>
            <a:ext cx="3851713"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Independent</a:t>
            </a:r>
            <a:endParaRPr lang="en-US" sz="2500" b="1">
              <a:solidFill>
                <a:srgbClr val="000000"/>
              </a:solidFill>
              <a:latin typeface="Public Sans Bold"/>
              <a:ea typeface="Public Sans Bold"/>
              <a:cs typeface="Public Sans Bold"/>
              <a:sym typeface="Public Sans Bold"/>
            </a:endParaRPr>
          </a:p>
        </p:txBody>
      </p:sp>
      <p:sp>
        <p:nvSpPr>
          <p:cNvPr id="48" name="TextBox 48"/>
          <p:cNvSpPr txBox="1"/>
          <p:nvPr/>
        </p:nvSpPr>
        <p:spPr>
          <a:xfrm>
            <a:off x="6122491" y="5282493"/>
            <a:ext cx="3851713"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Independent</a:t>
            </a:r>
            <a:endParaRPr lang="en-US" sz="2500" b="1">
              <a:solidFill>
                <a:srgbClr val="000000"/>
              </a:solidFill>
              <a:latin typeface="Public Sans Bold"/>
              <a:ea typeface="Public Sans Bold"/>
              <a:cs typeface="Public Sans Bold"/>
              <a:sym typeface="Public Sans Bold"/>
            </a:endParaRPr>
          </a:p>
        </p:txBody>
      </p:sp>
      <p:sp>
        <p:nvSpPr>
          <p:cNvPr id="49" name="TextBox 49"/>
          <p:cNvSpPr txBox="1"/>
          <p:nvPr/>
        </p:nvSpPr>
        <p:spPr>
          <a:xfrm>
            <a:off x="10462857" y="4301360"/>
            <a:ext cx="5772742"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Measure of academic performance</a:t>
            </a:r>
            <a:endParaRPr lang="en-US" sz="2500" b="1">
              <a:solidFill>
                <a:srgbClr val="000000"/>
              </a:solidFill>
              <a:latin typeface="Public Sans Bold"/>
              <a:ea typeface="Public Sans Bold"/>
              <a:cs typeface="Public Sans Bold"/>
              <a:sym typeface="Public Sans Bold"/>
            </a:endParaRPr>
          </a:p>
        </p:txBody>
      </p:sp>
      <p:sp>
        <p:nvSpPr>
          <p:cNvPr id="50" name="TextBox 50"/>
          <p:cNvSpPr txBox="1"/>
          <p:nvPr/>
        </p:nvSpPr>
        <p:spPr>
          <a:xfrm>
            <a:off x="10462857" y="6197678"/>
            <a:ext cx="5772742"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Class participation level</a:t>
            </a:r>
            <a:endParaRPr lang="en-US" sz="2500" b="1">
              <a:solidFill>
                <a:srgbClr val="000000"/>
              </a:solidFill>
              <a:latin typeface="Public Sans Bold"/>
              <a:ea typeface="Public Sans Bold"/>
              <a:cs typeface="Public Sans Bold"/>
              <a:sym typeface="Public Sans Bold"/>
            </a:endParaRPr>
          </a:p>
        </p:txBody>
      </p:sp>
      <p:sp>
        <p:nvSpPr>
          <p:cNvPr id="51" name="TextBox 51"/>
          <p:cNvSpPr txBox="1"/>
          <p:nvPr/>
        </p:nvSpPr>
        <p:spPr>
          <a:xfrm>
            <a:off x="10462857" y="5223775"/>
            <a:ext cx="5772742"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Prior academic achievements</a:t>
            </a:r>
            <a:endParaRPr lang="en-US" sz="2500" b="1">
              <a:solidFill>
                <a:srgbClr val="000000"/>
              </a:solidFill>
              <a:latin typeface="Public Sans Bold"/>
              <a:ea typeface="Public Sans Bold"/>
              <a:cs typeface="Public Sans Bold"/>
              <a:sym typeface="Public Sans Bold"/>
            </a:endParaRPr>
          </a:p>
        </p:txBody>
      </p:sp>
      <p:sp>
        <p:nvSpPr>
          <p:cNvPr id="52" name="TextBox 52"/>
          <p:cNvSpPr txBox="1"/>
          <p:nvPr/>
        </p:nvSpPr>
        <p:spPr>
          <a:xfrm>
            <a:off x="10462857" y="7971680"/>
            <a:ext cx="5772742"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Weekly study hours</a:t>
            </a:r>
            <a:endParaRPr lang="en-US" sz="2500" b="1">
              <a:solidFill>
                <a:srgbClr val="000000"/>
              </a:solidFill>
              <a:latin typeface="Public Sans Bold"/>
              <a:ea typeface="Public Sans Bold"/>
              <a:cs typeface="Public Sans Bold"/>
              <a:sym typeface="Public Sans Bold"/>
            </a:endParaRPr>
          </a:p>
        </p:txBody>
      </p:sp>
      <p:sp>
        <p:nvSpPr>
          <p:cNvPr id="53" name="TextBox 53"/>
          <p:cNvSpPr txBox="1"/>
          <p:nvPr/>
        </p:nvSpPr>
        <p:spPr>
          <a:xfrm>
            <a:off x="10462857" y="7112862"/>
            <a:ext cx="5772742" cy="381000"/>
          </a:xfrm>
          <a:prstGeom prst="rect">
            <a:avLst/>
          </a:prstGeom>
        </p:spPr>
        <p:txBody>
          <a:bodyPr lIns="0" tIns="0" rIns="0" bIns="0" rtlCol="0" anchor="t">
            <a:spAutoFit/>
          </a:bodyPr>
          <a:lstStyle/>
          <a:p>
            <a:pPr algn="ctr">
              <a:lnSpc>
                <a:spcPts val="3000"/>
              </a:lnSpc>
            </a:pPr>
            <a:r>
              <a:rPr lang="en-US" sz="2500" b="1">
                <a:solidFill>
                  <a:srgbClr val="000000"/>
                </a:solidFill>
                <a:latin typeface="Public Sans Bold"/>
                <a:ea typeface="Public Sans Bold"/>
                <a:cs typeface="Public Sans Bold"/>
                <a:sym typeface="Public Sans Bold"/>
              </a:rPr>
              <a:t>No of registerd courses</a:t>
            </a:r>
            <a:endParaRPr lang="en-US" sz="2500" b="1">
              <a:solidFill>
                <a:srgbClr val="000000"/>
              </a:solidFill>
              <a:latin typeface="Public Sans Bold"/>
              <a:ea typeface="Public Sans Bold"/>
              <a:cs typeface="Public Sans Bold"/>
              <a:sym typeface="Public Sans Bold"/>
            </a:endParaRPr>
          </a:p>
        </p:txBody>
      </p:sp>
      <p:sp>
        <p:nvSpPr>
          <p:cNvPr id="54" name="AutoShape 54"/>
          <p:cNvSpPr/>
          <p:nvPr/>
        </p:nvSpPr>
        <p:spPr>
          <a:xfrm>
            <a:off x="1518758" y="2157412"/>
            <a:ext cx="16230600" cy="0"/>
          </a:xfrm>
          <a:prstGeom prst="line">
            <a:avLst/>
          </a:prstGeom>
          <a:ln w="28575" cap="flat">
            <a:solidFill>
              <a:srgbClr val="333333"/>
            </a:solidFill>
            <a:prstDash val="solid"/>
            <a:headEnd type="none" w="sm" len="sm"/>
            <a:tailEnd type="none" w="sm" len="sm"/>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028700" y="1751768"/>
            <a:ext cx="16230600" cy="0"/>
          </a:xfrm>
          <a:prstGeom prst="line">
            <a:avLst/>
          </a:prstGeom>
          <a:ln w="28575" cap="flat">
            <a:solidFill>
              <a:srgbClr val="333333"/>
            </a:solidFill>
            <a:prstDash val="solid"/>
            <a:headEnd type="none" w="sm" len="sm"/>
            <a:tailEnd type="none" w="sm" len="sm"/>
          </a:ln>
        </p:spPr>
      </p:sp>
      <p:sp>
        <p:nvSpPr>
          <p:cNvPr id="3" name="Freeform 3"/>
          <p:cNvSpPr/>
          <p:nvPr/>
        </p:nvSpPr>
        <p:spPr>
          <a:xfrm>
            <a:off x="2280664" y="2009691"/>
            <a:ext cx="13726672" cy="7248609"/>
          </a:xfrm>
          <a:custGeom>
            <a:avLst/>
            <a:gdLst/>
            <a:ahLst/>
            <a:cxnLst/>
            <a:rect l="l" t="t" r="r" b="b"/>
            <a:pathLst>
              <a:path w="13726672" h="7248609">
                <a:moveTo>
                  <a:pt x="0" y="0"/>
                </a:moveTo>
                <a:lnTo>
                  <a:pt x="13726672" y="0"/>
                </a:lnTo>
                <a:lnTo>
                  <a:pt x="13726672" y="7248609"/>
                </a:lnTo>
                <a:lnTo>
                  <a:pt x="0" y="7248609"/>
                </a:lnTo>
                <a:lnTo>
                  <a:pt x="0" y="0"/>
                </a:lnTo>
                <a:close/>
              </a:path>
            </a:pathLst>
          </a:custGeom>
          <a:blipFill>
            <a:blip r:embed="rId1"/>
            <a:stretch>
              <a:fillRect t="-9595" b="-16571"/>
            </a:stretch>
          </a:blipFill>
        </p:spPr>
      </p:sp>
      <p:sp>
        <p:nvSpPr>
          <p:cNvPr id="4" name="TextBox 4"/>
          <p:cNvSpPr txBox="1"/>
          <p:nvPr/>
        </p:nvSpPr>
        <p:spPr>
          <a:xfrm>
            <a:off x="4421476" y="859216"/>
            <a:ext cx="9022080" cy="663952"/>
          </a:xfrm>
          <a:prstGeom prst="rect">
            <a:avLst/>
          </a:prstGeom>
        </p:spPr>
        <p:txBody>
          <a:bodyPr lIns="0" tIns="0" rIns="0" bIns="0" rtlCol="0" anchor="t">
            <a:spAutoFit/>
          </a:bodyPr>
          <a:lstStyle/>
          <a:p>
            <a:pPr algn="ctr">
              <a:lnSpc>
                <a:spcPts val="5405"/>
              </a:lnSpc>
              <a:spcBef>
                <a:spcPct val="0"/>
              </a:spcBef>
            </a:pPr>
            <a:r>
              <a:rPr lang="en-US" sz="3860" b="1" spc="-177">
                <a:solidFill>
                  <a:srgbClr val="000000"/>
                </a:solidFill>
                <a:latin typeface="Raleway Medium"/>
                <a:ea typeface="Raleway Medium"/>
                <a:cs typeface="Raleway Medium"/>
                <a:sym typeface="Raleway Medium"/>
              </a:rPr>
              <a:t>A PILOT STUDY SAMPLE OF 10 STUDENTS </a:t>
            </a:r>
            <a:endParaRPr lang="en-US" sz="3860" b="1" spc="-177">
              <a:solidFill>
                <a:srgbClr val="000000"/>
              </a:solidFill>
              <a:latin typeface="Raleway Medium"/>
              <a:ea typeface="Raleway Medium"/>
              <a:cs typeface="Raleway Medium"/>
              <a:sym typeface="Raleway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Freeform 2"/>
          <p:cNvSpPr/>
          <p:nvPr/>
        </p:nvSpPr>
        <p:spPr>
          <a:xfrm>
            <a:off x="2235467" y="648024"/>
            <a:ext cx="13494862" cy="8990952"/>
          </a:xfrm>
          <a:custGeom>
            <a:avLst/>
            <a:gdLst/>
            <a:ahLst/>
            <a:cxnLst/>
            <a:rect l="l" t="t" r="r" b="b"/>
            <a:pathLst>
              <a:path w="13494862" h="8990952">
                <a:moveTo>
                  <a:pt x="0" y="0"/>
                </a:moveTo>
                <a:lnTo>
                  <a:pt x="13494861" y="0"/>
                </a:lnTo>
                <a:lnTo>
                  <a:pt x="13494861" y="8990952"/>
                </a:lnTo>
                <a:lnTo>
                  <a:pt x="0" y="8990952"/>
                </a:lnTo>
                <a:lnTo>
                  <a:pt x="0" y="0"/>
                </a:lnTo>
                <a:close/>
              </a:path>
            </a:pathLst>
          </a:custGeom>
          <a:blipFill>
            <a:blip r:embed="rId1"/>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flipV="1">
            <a:off x="9398479" y="4622193"/>
            <a:ext cx="0" cy="1653351"/>
          </a:xfrm>
          <a:prstGeom prst="line">
            <a:avLst/>
          </a:prstGeom>
          <a:ln w="47625" cap="flat">
            <a:solidFill>
              <a:srgbClr val="333333"/>
            </a:solidFill>
            <a:prstDash val="solid"/>
            <a:headEnd type="none" w="sm" len="sm"/>
            <a:tailEnd type="arrow" w="med" len="sm"/>
          </a:ln>
        </p:spPr>
      </p:sp>
      <p:sp>
        <p:nvSpPr>
          <p:cNvPr id="3" name="Freeform 3"/>
          <p:cNvSpPr/>
          <p:nvPr/>
        </p:nvSpPr>
        <p:spPr>
          <a:xfrm>
            <a:off x="10322309" y="2441797"/>
            <a:ext cx="6584149" cy="6584149"/>
          </a:xfrm>
          <a:custGeom>
            <a:avLst/>
            <a:gdLst/>
            <a:ahLst/>
            <a:cxnLst/>
            <a:rect l="l" t="t" r="r" b="b"/>
            <a:pathLst>
              <a:path w="6584149" h="6584149">
                <a:moveTo>
                  <a:pt x="0" y="0"/>
                </a:moveTo>
                <a:lnTo>
                  <a:pt x="6584149" y="0"/>
                </a:lnTo>
                <a:lnTo>
                  <a:pt x="6584149" y="6584149"/>
                </a:lnTo>
                <a:lnTo>
                  <a:pt x="0" y="6584149"/>
                </a:lnTo>
                <a:lnTo>
                  <a:pt x="0" y="0"/>
                </a:lnTo>
                <a:close/>
              </a:path>
            </a:pathLst>
          </a:custGeom>
          <a:blipFill>
            <a:blip r:embed="rId1"/>
            <a:stretch>
              <a:fillRect/>
            </a:stretch>
          </a:blipFill>
        </p:spPr>
      </p:sp>
      <p:sp>
        <p:nvSpPr>
          <p:cNvPr id="4" name="TextBox 4"/>
          <p:cNvSpPr txBox="1"/>
          <p:nvPr/>
        </p:nvSpPr>
        <p:spPr>
          <a:xfrm>
            <a:off x="3458407" y="899008"/>
            <a:ext cx="11609468" cy="828675"/>
          </a:xfrm>
          <a:prstGeom prst="rect">
            <a:avLst/>
          </a:prstGeom>
        </p:spPr>
        <p:txBody>
          <a:bodyPr lIns="0" tIns="0" rIns="0" bIns="0" rtlCol="0" anchor="t">
            <a:spAutoFit/>
          </a:bodyPr>
          <a:lstStyle/>
          <a:p>
            <a:pPr algn="l">
              <a:lnSpc>
                <a:spcPts val="6600"/>
              </a:lnSpc>
            </a:pPr>
            <a:r>
              <a:rPr lang="en-US" sz="5500">
                <a:solidFill>
                  <a:srgbClr val="333333"/>
                </a:solidFill>
                <a:latin typeface="Lexend Deca"/>
                <a:ea typeface="Lexend Deca"/>
                <a:cs typeface="Lexend Deca"/>
                <a:sym typeface="Lexend Deca"/>
              </a:rPr>
              <a:t>RESEARCH GAPS &amp; SOLUTIONS</a:t>
            </a:r>
            <a:endParaRPr lang="en-US" sz="5500">
              <a:solidFill>
                <a:srgbClr val="333333"/>
              </a:solidFill>
              <a:latin typeface="Lexend Deca"/>
              <a:ea typeface="Lexend Deca"/>
              <a:cs typeface="Lexend Deca"/>
              <a:sym typeface="Lexend Deca"/>
            </a:endParaRPr>
          </a:p>
        </p:txBody>
      </p:sp>
      <p:sp>
        <p:nvSpPr>
          <p:cNvPr id="5" name="TextBox 5"/>
          <p:cNvSpPr txBox="1"/>
          <p:nvPr/>
        </p:nvSpPr>
        <p:spPr>
          <a:xfrm>
            <a:off x="1205121" y="2561068"/>
            <a:ext cx="7722902" cy="6641299"/>
          </a:xfrm>
          <a:prstGeom prst="rect">
            <a:avLst/>
          </a:prstGeom>
        </p:spPr>
        <p:txBody>
          <a:bodyPr lIns="0" tIns="0" rIns="0" bIns="0" rtlCol="0" anchor="t">
            <a:spAutoFit/>
          </a:bodyPr>
          <a:lstStyle/>
          <a:p>
            <a:pPr marL="585470" lvl="1" indent="-292735" algn="l">
              <a:lnSpc>
                <a:spcPts val="3795"/>
              </a:lnSpc>
              <a:buFont typeface="Arial" panose="020B0604020202020204"/>
              <a:buChar char="•"/>
            </a:pPr>
            <a:r>
              <a:rPr lang="en-US" sz="2710">
                <a:solidFill>
                  <a:srgbClr val="333333"/>
                </a:solidFill>
                <a:latin typeface="Public Sans"/>
                <a:ea typeface="Public Sans"/>
                <a:cs typeface="Public Sans"/>
                <a:sym typeface="Public Sans"/>
              </a:rPr>
              <a:t>Most institutions rely on descriptive summaries of GPA without applying rigorous mathematical models</a:t>
            </a:r>
            <a:endParaRPr lang="en-US" sz="2710">
              <a:solidFill>
                <a:srgbClr val="333333"/>
              </a:solidFill>
              <a:latin typeface="Public Sans"/>
              <a:ea typeface="Public Sans"/>
              <a:cs typeface="Public Sans"/>
              <a:sym typeface="Public Sans"/>
            </a:endParaRPr>
          </a:p>
          <a:p>
            <a:pPr algn="l">
              <a:lnSpc>
                <a:spcPts val="3795"/>
              </a:lnSpc>
            </a:pPr>
          </a:p>
          <a:p>
            <a:pPr marL="585470" lvl="1" indent="-292735" algn="l">
              <a:lnSpc>
                <a:spcPts val="3795"/>
              </a:lnSpc>
              <a:buFont typeface="Arial" panose="020B0604020202020204"/>
              <a:buChar char="•"/>
            </a:pPr>
            <a:r>
              <a:rPr lang="en-US" sz="2710">
                <a:solidFill>
                  <a:srgbClr val="333333"/>
                </a:solidFill>
                <a:latin typeface="Public Sans"/>
                <a:ea typeface="Public Sans"/>
                <a:cs typeface="Public Sans"/>
                <a:sym typeface="Public Sans"/>
              </a:rPr>
              <a:t>Lack of Predictive Tools for Early Identification of At-Risk Students</a:t>
            </a:r>
            <a:endParaRPr lang="en-US" sz="2710">
              <a:solidFill>
                <a:srgbClr val="333333"/>
              </a:solidFill>
              <a:latin typeface="Public Sans"/>
              <a:ea typeface="Public Sans"/>
              <a:cs typeface="Public Sans"/>
              <a:sym typeface="Public Sans"/>
            </a:endParaRPr>
          </a:p>
          <a:p>
            <a:pPr algn="l">
              <a:lnSpc>
                <a:spcPts val="3795"/>
              </a:lnSpc>
            </a:pPr>
          </a:p>
          <a:p>
            <a:pPr marL="585470" lvl="1" indent="-292735" algn="l">
              <a:lnSpc>
                <a:spcPts val="3795"/>
              </a:lnSpc>
              <a:buFont typeface="Arial" panose="020B0604020202020204"/>
              <a:buChar char="•"/>
            </a:pPr>
            <a:r>
              <a:rPr lang="en-US" sz="2710">
                <a:solidFill>
                  <a:srgbClr val="333333"/>
                </a:solidFill>
                <a:latin typeface="Public Sans"/>
                <a:ea typeface="Public Sans"/>
                <a:cs typeface="Public Sans"/>
                <a:sym typeface="Public Sans"/>
              </a:rPr>
              <a:t>Inadequate Analysis of Performance Trends Over Time</a:t>
            </a:r>
            <a:endParaRPr lang="en-US" sz="2710">
              <a:solidFill>
                <a:srgbClr val="333333"/>
              </a:solidFill>
              <a:latin typeface="Public Sans"/>
              <a:ea typeface="Public Sans"/>
              <a:cs typeface="Public Sans"/>
              <a:sym typeface="Public Sans"/>
            </a:endParaRPr>
          </a:p>
          <a:p>
            <a:pPr algn="l">
              <a:lnSpc>
                <a:spcPts val="3795"/>
              </a:lnSpc>
            </a:pPr>
          </a:p>
          <a:p>
            <a:pPr marL="585470" lvl="1" indent="-292735" algn="l">
              <a:lnSpc>
                <a:spcPts val="3795"/>
              </a:lnSpc>
              <a:buFont typeface="Arial" panose="020B0604020202020204"/>
              <a:buChar char="•"/>
            </a:pPr>
            <a:r>
              <a:rPr lang="en-US" sz="2710">
                <a:solidFill>
                  <a:srgbClr val="333333"/>
                </a:solidFill>
                <a:latin typeface="Public Sans"/>
                <a:ea typeface="Public Sans"/>
                <a:cs typeface="Public Sans"/>
                <a:sym typeface="Public Sans"/>
              </a:rPr>
              <a:t>Weak Integration of Theory and Practical Application. Some studies focus on theory without practical deployment.</a:t>
            </a:r>
            <a:endParaRPr lang="en-US" sz="2710">
              <a:solidFill>
                <a:srgbClr val="333333"/>
              </a:solidFill>
              <a:latin typeface="Public Sans"/>
              <a:ea typeface="Public Sans"/>
              <a:cs typeface="Public Sans"/>
              <a:sym typeface="Public Sans"/>
            </a:endParaRPr>
          </a:p>
          <a:p>
            <a:pPr algn="l">
              <a:lnSpc>
                <a:spcPts val="3795"/>
              </a:lnSpc>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extBox 2"/>
          <p:cNvSpPr txBox="1"/>
          <p:nvPr/>
        </p:nvSpPr>
        <p:spPr>
          <a:xfrm>
            <a:off x="954766" y="1381542"/>
            <a:ext cx="7229473" cy="1143000"/>
          </a:xfrm>
          <a:prstGeom prst="rect">
            <a:avLst/>
          </a:prstGeom>
        </p:spPr>
        <p:txBody>
          <a:bodyPr lIns="0" tIns="0" rIns="0" bIns="0" rtlCol="0" anchor="t">
            <a:spAutoFit/>
          </a:bodyPr>
          <a:lstStyle/>
          <a:p>
            <a:pPr algn="l">
              <a:lnSpc>
                <a:spcPts val="9000"/>
              </a:lnSpc>
            </a:pPr>
            <a:r>
              <a:rPr lang="en-US" sz="7500" b="1" i="1" spc="-367">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Related Works</a:t>
            </a:r>
            <a:endParaRPr lang="en-US" sz="7500" b="1" i="1" spc="-367">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3" name="TextBox 3"/>
          <p:cNvSpPr txBox="1"/>
          <p:nvPr/>
        </p:nvSpPr>
        <p:spPr>
          <a:xfrm>
            <a:off x="1028700" y="2857034"/>
            <a:ext cx="14311077" cy="2610307"/>
          </a:xfrm>
          <a:prstGeom prst="rect">
            <a:avLst/>
          </a:prstGeom>
        </p:spPr>
        <p:txBody>
          <a:bodyPr lIns="0" tIns="0" rIns="0" bIns="0" rtlCol="0" anchor="t">
            <a:spAutoFit/>
          </a:bodyPr>
          <a:lstStyle/>
          <a:p>
            <a:pPr algn="l">
              <a:lnSpc>
                <a:spcPts val="4175"/>
              </a:lnSpc>
            </a:pPr>
            <a:r>
              <a:rPr lang="en-US" sz="2980" b="1">
                <a:solidFill>
                  <a:srgbClr val="333333"/>
                </a:solidFill>
                <a:latin typeface="Public Sans Bold"/>
                <a:ea typeface="Public Sans Bold"/>
                <a:cs typeface="Public Sans Bold"/>
                <a:sym typeface="Public Sans Bold"/>
              </a:rPr>
              <a:t>Neha &amp; Kumar, 2023</a:t>
            </a:r>
            <a:endParaRPr lang="en-US" sz="2980" b="1">
              <a:solidFill>
                <a:srgbClr val="333333"/>
              </a:solidFill>
              <a:latin typeface="Public Sans Bold"/>
              <a:ea typeface="Public Sans Bold"/>
              <a:cs typeface="Public Sans Bold"/>
              <a:sym typeface="Public Sans Bold"/>
            </a:endParaRPr>
          </a:p>
          <a:p>
            <a:pPr algn="l">
              <a:lnSpc>
                <a:spcPts val="4175"/>
              </a:lnSpc>
            </a:pPr>
            <a:r>
              <a:rPr lang="en-US" sz="2980" b="1">
                <a:solidFill>
                  <a:srgbClr val="333333"/>
                </a:solidFill>
                <a:latin typeface="Public Sans Bold"/>
                <a:ea typeface="Public Sans Bold"/>
                <a:cs typeface="Public Sans Bold"/>
                <a:sym typeface="Public Sans Bold"/>
              </a:rPr>
              <a:t>Title: Enhancing Graduate Academic Performance Prediction and Classification: An Analysis Using the Enhanced Correlated Feature Set Model</a:t>
            </a:r>
            <a:endParaRPr lang="en-US" sz="2980" b="1">
              <a:solidFill>
                <a:srgbClr val="333333"/>
              </a:solidFill>
              <a:latin typeface="Public Sans Bold"/>
              <a:ea typeface="Public Sans Bold"/>
              <a:cs typeface="Public Sans Bold"/>
              <a:sym typeface="Public Sans Bold"/>
            </a:endParaRPr>
          </a:p>
          <a:p>
            <a:pPr algn="l">
              <a:lnSpc>
                <a:spcPts val="4175"/>
              </a:lnSpc>
              <a:spcBef>
                <a:spcPct val="0"/>
              </a:spcBef>
            </a:pPr>
            <a:r>
              <a:rPr lang="en-US" sz="2980" b="1">
                <a:solidFill>
                  <a:srgbClr val="333333"/>
                </a:solidFill>
                <a:latin typeface="Canva Sans Bold" panose="020B0803030501040103"/>
                <a:ea typeface="Canva Sans Bold" panose="020B0803030501040103"/>
                <a:cs typeface="Canva Sans Bold" panose="020B0803030501040103"/>
                <a:sym typeface="Canva Sans Bold" panose="020B0803030501040103"/>
              </a:rPr>
              <a:t>Scope:</a:t>
            </a:r>
            <a:r>
              <a:rPr lang="en-US" sz="2980">
                <a:solidFill>
                  <a:srgbClr val="333333"/>
                </a:solidFill>
                <a:latin typeface="Canva Sans" panose="020B0503030501040103"/>
                <a:ea typeface="Canva Sans" panose="020B0503030501040103"/>
                <a:cs typeface="Canva Sans" panose="020B0503030501040103"/>
                <a:sym typeface="Canva Sans" panose="020B0503030501040103"/>
              </a:rPr>
              <a:t> Utilizes deep learning, Date mining an Classification techniqua to analyse academic trajectories</a:t>
            </a:r>
            <a:endParaRPr lang="en-US" sz="2980">
              <a:solidFill>
                <a:srgbClr val="333333"/>
              </a:solidFill>
              <a:latin typeface="Canva Sans" panose="020B0503030501040103"/>
              <a:ea typeface="Canva Sans" panose="020B0503030501040103"/>
              <a:cs typeface="Canva Sans" panose="020B0503030501040103"/>
              <a:sym typeface="Canva Sans" panose="020B0503030501040103"/>
            </a:endParaRPr>
          </a:p>
        </p:txBody>
      </p:sp>
      <p:sp>
        <p:nvSpPr>
          <p:cNvPr id="4" name="TextBox 4"/>
          <p:cNvSpPr txBox="1"/>
          <p:nvPr/>
        </p:nvSpPr>
        <p:spPr>
          <a:xfrm>
            <a:off x="1028700" y="6067146"/>
            <a:ext cx="15075568" cy="2610307"/>
          </a:xfrm>
          <a:prstGeom prst="rect">
            <a:avLst/>
          </a:prstGeom>
        </p:spPr>
        <p:txBody>
          <a:bodyPr lIns="0" tIns="0" rIns="0" bIns="0" rtlCol="0" anchor="t">
            <a:spAutoFit/>
          </a:bodyPr>
          <a:lstStyle/>
          <a:p>
            <a:pPr algn="l">
              <a:lnSpc>
                <a:spcPts val="4175"/>
              </a:lnSpc>
            </a:pPr>
            <a:r>
              <a:rPr lang="en-US" sz="2980" b="1">
                <a:solidFill>
                  <a:srgbClr val="333333"/>
                </a:solidFill>
                <a:latin typeface="Public Sans Bold"/>
                <a:ea typeface="Public Sans Bold"/>
                <a:cs typeface="Public Sans Bold"/>
                <a:sym typeface="Public Sans Bold"/>
              </a:rPr>
              <a:t>Akuma, S., &amp; Abakpa, H, (2021) </a:t>
            </a:r>
            <a:endParaRPr lang="en-US" sz="2980" b="1">
              <a:solidFill>
                <a:srgbClr val="333333"/>
              </a:solidFill>
              <a:latin typeface="Public Sans Bold"/>
              <a:ea typeface="Public Sans Bold"/>
              <a:cs typeface="Public Sans Bold"/>
              <a:sym typeface="Public Sans Bold"/>
            </a:endParaRPr>
          </a:p>
          <a:p>
            <a:pPr algn="l">
              <a:lnSpc>
                <a:spcPts val="4175"/>
              </a:lnSpc>
            </a:pPr>
            <a:r>
              <a:rPr lang="en-US" sz="2980" b="1">
                <a:solidFill>
                  <a:srgbClr val="333333"/>
                </a:solidFill>
                <a:latin typeface="Public Sans Bold"/>
                <a:ea typeface="Public Sans Bold"/>
                <a:cs typeface="Public Sans Bold"/>
                <a:sym typeface="Public Sans Bold"/>
              </a:rPr>
              <a:t>Title: Predicting Undergraduate Level Students’ Performance Using Regression’</a:t>
            </a:r>
            <a:endParaRPr lang="en-US" sz="2980" b="1">
              <a:solidFill>
                <a:srgbClr val="333333"/>
              </a:solidFill>
              <a:latin typeface="Public Sans Bold"/>
              <a:ea typeface="Public Sans Bold"/>
              <a:cs typeface="Public Sans Bold"/>
              <a:sym typeface="Public Sans Bold"/>
            </a:endParaRPr>
          </a:p>
          <a:p>
            <a:pPr algn="l">
              <a:lnSpc>
                <a:spcPts val="4175"/>
              </a:lnSpc>
              <a:spcBef>
                <a:spcPct val="0"/>
              </a:spcBef>
            </a:pPr>
            <a:r>
              <a:rPr lang="en-US" sz="2980" b="1">
                <a:solidFill>
                  <a:srgbClr val="333333"/>
                </a:solidFill>
                <a:latin typeface="Canva Sans Bold" panose="020B0803030501040103"/>
                <a:ea typeface="Canva Sans Bold" panose="020B0803030501040103"/>
                <a:cs typeface="Canva Sans Bold" panose="020B0803030501040103"/>
                <a:sym typeface="Canva Sans Bold" panose="020B0803030501040103"/>
              </a:rPr>
              <a:t>Scope: </a:t>
            </a:r>
            <a:r>
              <a:rPr lang="en-US" sz="2980">
                <a:solidFill>
                  <a:srgbClr val="333333"/>
                </a:solidFill>
                <a:latin typeface="Canva Sans" panose="020B0503030501040103"/>
                <a:ea typeface="Canva Sans" panose="020B0503030501040103"/>
                <a:cs typeface="Canva Sans" panose="020B0503030501040103"/>
                <a:sym typeface="Canva Sans" panose="020B0503030501040103"/>
              </a:rPr>
              <a:t>To develop a mathematical model using Linear Regression Algorithm to predict students’ final results. Measuing correlation coefficient and Mean Square Error(MSE)</a:t>
            </a:r>
            <a:endParaRPr lang="en-US" sz="2980">
              <a:solidFill>
                <a:srgbClr val="333333"/>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AutoShape 2"/>
          <p:cNvSpPr/>
          <p:nvPr/>
        </p:nvSpPr>
        <p:spPr>
          <a:xfrm>
            <a:off x="1028700" y="6067425"/>
            <a:ext cx="1690612" cy="0"/>
          </a:xfrm>
          <a:prstGeom prst="line">
            <a:avLst/>
          </a:prstGeom>
          <a:ln w="28575" cap="flat">
            <a:solidFill>
              <a:srgbClr val="333333"/>
            </a:solidFill>
            <a:prstDash val="solid"/>
            <a:headEnd type="none" w="sm" len="sm"/>
            <a:tailEnd type="none" w="sm" len="sm"/>
          </a:ln>
        </p:spPr>
      </p:sp>
      <p:grpSp>
        <p:nvGrpSpPr>
          <p:cNvPr id="3" name="Group 3"/>
          <p:cNvGrpSpPr/>
          <p:nvPr/>
        </p:nvGrpSpPr>
        <p:grpSpPr>
          <a:xfrm rot="0">
            <a:off x="10517027" y="2232729"/>
            <a:ext cx="8766306" cy="5821543"/>
            <a:chOff x="0" y="0"/>
            <a:chExt cx="1223946" cy="812800"/>
          </a:xfrm>
        </p:grpSpPr>
        <p:sp>
          <p:nvSpPr>
            <p:cNvPr id="4" name="Freeform 4"/>
            <p:cNvSpPr/>
            <p:nvPr/>
          </p:nvSpPr>
          <p:spPr>
            <a:xfrm>
              <a:off x="0" y="0"/>
              <a:ext cx="1223946" cy="812800"/>
            </a:xfrm>
            <a:custGeom>
              <a:avLst/>
              <a:gdLst/>
              <a:ahLst/>
              <a:cxnLst/>
              <a:rect l="l" t="t" r="r" b="b"/>
              <a:pathLst>
                <a:path w="1223946" h="812800">
                  <a:moveTo>
                    <a:pt x="17663" y="0"/>
                  </a:moveTo>
                  <a:lnTo>
                    <a:pt x="1206283" y="0"/>
                  </a:lnTo>
                  <a:cubicBezTo>
                    <a:pt x="1216038" y="0"/>
                    <a:pt x="1223946" y="7908"/>
                    <a:pt x="1223946" y="17663"/>
                  </a:cubicBezTo>
                  <a:lnTo>
                    <a:pt x="1223946" y="795137"/>
                  </a:lnTo>
                  <a:cubicBezTo>
                    <a:pt x="1223946" y="799822"/>
                    <a:pt x="1222085" y="804314"/>
                    <a:pt x="1218773" y="807627"/>
                  </a:cubicBezTo>
                  <a:cubicBezTo>
                    <a:pt x="1215460" y="810939"/>
                    <a:pt x="1210968" y="812800"/>
                    <a:pt x="1206283" y="812800"/>
                  </a:cubicBezTo>
                  <a:lnTo>
                    <a:pt x="17663" y="812800"/>
                  </a:lnTo>
                  <a:cubicBezTo>
                    <a:pt x="12978" y="812800"/>
                    <a:pt x="8486" y="810939"/>
                    <a:pt x="5173" y="807627"/>
                  </a:cubicBezTo>
                  <a:cubicBezTo>
                    <a:pt x="1861" y="804314"/>
                    <a:pt x="0" y="799822"/>
                    <a:pt x="0" y="795137"/>
                  </a:cubicBezTo>
                  <a:lnTo>
                    <a:pt x="0" y="17663"/>
                  </a:lnTo>
                  <a:cubicBezTo>
                    <a:pt x="0" y="12978"/>
                    <a:pt x="1861" y="8486"/>
                    <a:pt x="5173" y="5173"/>
                  </a:cubicBezTo>
                  <a:cubicBezTo>
                    <a:pt x="8486" y="1861"/>
                    <a:pt x="12978" y="0"/>
                    <a:pt x="17663" y="0"/>
                  </a:cubicBezTo>
                  <a:close/>
                </a:path>
              </a:pathLst>
            </a:custGeom>
            <a:blipFill>
              <a:blip r:embed="rId1"/>
              <a:stretch>
                <a:fillRect t="-25291" b="-25291"/>
              </a:stretch>
            </a:blipFill>
            <a:ln w="123825" cap="sq">
              <a:solidFill>
                <a:srgbClr val="000000"/>
              </a:solidFill>
              <a:prstDash val="solid"/>
              <a:miter/>
            </a:ln>
          </p:spPr>
        </p:sp>
      </p:grpSp>
      <p:sp>
        <p:nvSpPr>
          <p:cNvPr id="5" name="TextBox 5"/>
          <p:cNvSpPr txBox="1"/>
          <p:nvPr/>
        </p:nvSpPr>
        <p:spPr>
          <a:xfrm>
            <a:off x="1028700" y="3978275"/>
            <a:ext cx="8115300" cy="1504950"/>
          </a:xfrm>
          <a:prstGeom prst="rect">
            <a:avLst/>
          </a:prstGeom>
        </p:spPr>
        <p:txBody>
          <a:bodyPr lIns="0" tIns="0" rIns="0" bIns="0" rtlCol="0" anchor="t">
            <a:spAutoFit/>
          </a:bodyPr>
          <a:lstStyle/>
          <a:p>
            <a:pPr algn="l">
              <a:lnSpc>
                <a:spcPts val="12000"/>
              </a:lnSpc>
            </a:pPr>
            <a:r>
              <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rPr>
              <a:t>Thank you</a:t>
            </a:r>
            <a:endParaRPr lang="en-US" sz="10000" b="1" i="1" spc="-489">
              <a:solidFill>
                <a:srgbClr val="333333"/>
              </a:solidFill>
              <a:latin typeface="Noto Serif Display Semi-Bold Italics" panose="02020702080505090204"/>
              <a:ea typeface="Noto Serif Display Semi-Bold Italics" panose="02020702080505090204"/>
              <a:cs typeface="Noto Serif Display Semi-Bold Italics" panose="02020702080505090204"/>
              <a:sym typeface="Noto Serif Display Semi-Bold Italics" panose="02020702080505090204"/>
            </a:endParaRPr>
          </a:p>
        </p:txBody>
      </p:sp>
      <p:sp>
        <p:nvSpPr>
          <p:cNvPr id="6" name="TextBox 6"/>
          <p:cNvSpPr txBox="1"/>
          <p:nvPr/>
        </p:nvSpPr>
        <p:spPr>
          <a:xfrm>
            <a:off x="3058685" y="5702300"/>
            <a:ext cx="6085315" cy="615950"/>
          </a:xfrm>
          <a:prstGeom prst="rect">
            <a:avLst/>
          </a:prstGeom>
        </p:spPr>
        <p:txBody>
          <a:bodyPr lIns="0" tIns="0" rIns="0" bIns="0" rtlCol="0" anchor="t">
            <a:spAutoFit/>
          </a:bodyPr>
          <a:lstStyle/>
          <a:p>
            <a:pPr algn="just">
              <a:lnSpc>
                <a:spcPts val="4900"/>
              </a:lnSpc>
            </a:pPr>
            <a:r>
              <a:rPr lang="en-US" sz="3500" b="1">
                <a:solidFill>
                  <a:srgbClr val="333333"/>
                </a:solidFill>
                <a:latin typeface="Public Sans Bold"/>
                <a:ea typeface="Public Sans Bold"/>
                <a:cs typeface="Public Sans Bold"/>
                <a:sym typeface="Public Sans Bold"/>
              </a:rPr>
              <a:t>For your attention</a:t>
            </a:r>
            <a:endParaRPr lang="en-US" sz="3500" b="1">
              <a:solidFill>
                <a:srgbClr val="333333"/>
              </a:solidFill>
              <a:latin typeface="Public Sans Bold"/>
              <a:ea typeface="Public Sans Bold"/>
              <a:cs typeface="Public Sans Bold"/>
              <a:sym typeface="Public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5224</Words>
  <Application>WPS Presentation</Application>
  <PresentationFormat>On-screen Show (4:3)</PresentationFormat>
  <Paragraphs>208</Paragraphs>
  <Slides>16</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Arial</vt:lpstr>
      <vt:lpstr>SimSun</vt:lpstr>
      <vt:lpstr>Wingdings</vt:lpstr>
      <vt:lpstr>Noto Serif Display Semi-Bold Italics</vt:lpstr>
      <vt:lpstr>Public Sans Bold</vt:lpstr>
      <vt:lpstr>Public Sans</vt:lpstr>
      <vt:lpstr>Raleway Medium</vt:lpstr>
      <vt:lpstr>Montserrat</vt:lpstr>
      <vt:lpstr>Canva Sans Bold</vt:lpstr>
      <vt:lpstr>Lexend Deca</vt:lpstr>
      <vt:lpstr>Gotham Bold</vt:lpstr>
      <vt:lpstr>Arial</vt:lpstr>
      <vt:lpstr>Canva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Minimalist Business Chart Presentation</dc:title>
  <dc:creator/>
  <cp:lastModifiedBy>hp</cp:lastModifiedBy>
  <cp:revision>2</cp:revision>
  <dcterms:created xsi:type="dcterms:W3CDTF">2006-08-16T00:00:00Z</dcterms:created>
  <dcterms:modified xsi:type="dcterms:W3CDTF">2026-01-22T14:59:26Z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E22441294E094974B315E35ADF4A0B74_12</vt:lpwstr>
  </property>
  <property fmtid="{D5CDD505-2E9C-101B-9397-08002B2CF9AE}" pid="3" name="KSOProductBuildVer">
    <vt:lpwstr>1033-12.2.0.21936</vt:lpwstr>
  </property>
</Properties>
</file>